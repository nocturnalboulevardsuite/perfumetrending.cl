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gd5172i6qURL4XxSHjP+hS6GXn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9dfae092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f9dfae092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f9dfae092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9dfae092d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f9dfae092d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3f9dfae092d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9dfae092d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f9dfae092d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f9dfae092d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9dfae092d_0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9dfae092d_0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f9dfae092d_0_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a07591c53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fa07591c53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fa07591c53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a11d80e06_1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fa11d80e06_1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fa11d80e06_1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a11d80e06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fa11d80e06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fa11d80e06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fa07591c53_0_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g3fa07591c53_0_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fa07591c53_0_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fa07591c53_0_1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g3fa07591c53_0_1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fa07591c53_0_1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fa07591c53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g3fa07591c53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g3fa07591c53_0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fa07591c53_0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g3fa07591c53_0_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fa07591c53_0_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fa07591c53_0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g3fa07591c53_0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g3fa07591c53_0_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jpg"/><Relationship Id="rId4" Type="http://schemas.openxmlformats.org/officeDocument/2006/relationships/image" Target="../media/image1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A1F2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921240" y="-822960"/>
            <a:ext cx="2926080" cy="2926080"/>
          </a:xfrm>
          <a:prstGeom prst="ellipse">
            <a:avLst/>
          </a:prstGeom>
          <a:solidFill>
            <a:srgbClr val="2A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881360" y="4206240"/>
            <a:ext cx="1828800" cy="1828800"/>
          </a:xfrm>
          <a:prstGeom prst="ellipse">
            <a:avLst/>
          </a:prstGeom>
          <a:solidFill>
            <a:srgbClr val="8C5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-1005840" y="4846320"/>
            <a:ext cx="2743200" cy="2743200"/>
          </a:xfrm>
          <a:prstGeom prst="ellipse">
            <a:avLst/>
          </a:prstGeom>
          <a:solidFill>
            <a:srgbClr val="2A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502920" y="914400"/>
            <a:ext cx="146304" cy="146304"/>
          </a:xfrm>
          <a:prstGeom prst="ellipse">
            <a:avLst/>
          </a:prstGeom>
          <a:solidFill>
            <a:srgbClr val="C9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822960" y="1234440"/>
            <a:ext cx="91440" cy="91440"/>
          </a:xfrm>
          <a:prstGeom prst="ellipse">
            <a:avLst/>
          </a:prstGeom>
          <a:solidFill>
            <a:srgbClr val="C9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 txBox="1"/>
          <p:nvPr/>
        </p:nvSpPr>
        <p:spPr>
          <a:xfrm>
            <a:off x="822960" y="14173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4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9A24B"/>
                </a:solidFill>
                <a:latin typeface="Calibri"/>
                <a:ea typeface="Calibri"/>
                <a:cs typeface="Calibri"/>
                <a:sym typeface="Calibri"/>
              </a:rPr>
              <a:t>PROYECTO APT · FASE 1 — DEFINICIÓN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777240" y="178308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mbria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PerfumeTrending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822960" y="3063240"/>
            <a:ext cx="8686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9D9DE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E9D9DE"/>
                </a:solidFill>
                <a:latin typeface="Calibri"/>
                <a:ea typeface="Calibri"/>
                <a:cs typeface="Calibri"/>
                <a:sym typeface="Calibri"/>
              </a:rPr>
              <a:t>Comparación de precios, protección antifraude y detección de tendencias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9D9DE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E9D9DE"/>
                </a:solidFill>
                <a:latin typeface="Calibri"/>
                <a:ea typeface="Calibri"/>
                <a:cs typeface="Calibri"/>
                <a:sym typeface="Calibri"/>
              </a:rPr>
              <a:t>para el mercado chileno de perfumería.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" name="Google Shape;24;p1"/>
          <p:cNvCxnSpPr/>
          <p:nvPr/>
        </p:nvCxnSpPr>
        <p:spPr>
          <a:xfrm>
            <a:off x="822960" y="4160520"/>
            <a:ext cx="0" cy="777240"/>
          </a:xfrm>
          <a:prstGeom prst="straightConnector1">
            <a:avLst/>
          </a:prstGeom>
          <a:noFill/>
          <a:ln cap="flat" cmpd="sng" w="19050">
            <a:solidFill>
              <a:srgbClr val="C9A2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1"/>
          <p:cNvSpPr txBox="1"/>
          <p:nvPr/>
        </p:nvSpPr>
        <p:spPr>
          <a:xfrm>
            <a:off x="987552" y="411480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Benjamín Espinoza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987552" y="443484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C7C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9C7CE"/>
                </a:solidFill>
                <a:latin typeface="Calibri"/>
                <a:ea typeface="Calibri"/>
                <a:cs typeface="Calibri"/>
                <a:sym typeface="Calibri"/>
              </a:rPr>
              <a:t>Frontend &amp; Conexiones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" name="Google Shape;27;p1"/>
          <p:cNvCxnSpPr/>
          <p:nvPr/>
        </p:nvCxnSpPr>
        <p:spPr>
          <a:xfrm>
            <a:off x="4069080" y="4160520"/>
            <a:ext cx="0" cy="777240"/>
          </a:xfrm>
          <a:prstGeom prst="straightConnector1">
            <a:avLst/>
          </a:prstGeom>
          <a:noFill/>
          <a:ln cap="flat" cmpd="sng" w="19050">
            <a:solidFill>
              <a:srgbClr val="C9A2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1"/>
          <p:cNvSpPr txBox="1"/>
          <p:nvPr/>
        </p:nvSpPr>
        <p:spPr>
          <a:xfrm>
            <a:off x="4233672" y="411480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Diego Medina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 txBox="1"/>
          <p:nvPr/>
        </p:nvSpPr>
        <p:spPr>
          <a:xfrm>
            <a:off x="4233672" y="443484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C7C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9C7CE"/>
                </a:solidFill>
                <a:latin typeface="Calibri"/>
                <a:ea typeface="Calibri"/>
                <a:cs typeface="Calibri"/>
                <a:sym typeface="Calibri"/>
              </a:rPr>
              <a:t>Backend, Scraping &amp; Datos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" name="Google Shape;30;p1"/>
          <p:cNvCxnSpPr/>
          <p:nvPr/>
        </p:nvCxnSpPr>
        <p:spPr>
          <a:xfrm>
            <a:off x="7315200" y="4160520"/>
            <a:ext cx="0" cy="777240"/>
          </a:xfrm>
          <a:prstGeom prst="straightConnector1">
            <a:avLst/>
          </a:prstGeom>
          <a:noFill/>
          <a:ln cap="flat" cmpd="sng" w="19050">
            <a:solidFill>
              <a:srgbClr val="C9A2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1"/>
          <p:cNvSpPr txBox="1"/>
          <p:nvPr/>
        </p:nvSpPr>
        <p:spPr>
          <a:xfrm>
            <a:off x="7479792" y="411480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Alonso Moreno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 txBox="1"/>
          <p:nvPr/>
        </p:nvSpPr>
        <p:spPr>
          <a:xfrm>
            <a:off x="7479792" y="443484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C7C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9C7CE"/>
                </a:solidFill>
                <a:latin typeface="Calibri"/>
                <a:ea typeface="Calibri"/>
                <a:cs typeface="Calibri"/>
                <a:sym typeface="Calibri"/>
              </a:rPr>
              <a:t>Documentación &amp; Python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 txBox="1"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9A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79AA4"/>
                </a:solidFill>
                <a:latin typeface="Calibri"/>
                <a:ea typeface="Calibri"/>
                <a:cs typeface="Calibri"/>
                <a:sym typeface="Calibri"/>
              </a:rPr>
              <a:t>Duoc UC · Ingeniería en Informática · Portafolio de Título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0E8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C9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1207008" y="384048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Definición e Impacto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457200" y="1234440"/>
            <a:ext cx="6309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5B6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8C5B6B"/>
                </a:solidFill>
                <a:latin typeface="Cambria"/>
                <a:ea typeface="Cambria"/>
                <a:cs typeface="Cambria"/>
                <a:sym typeface="Cambria"/>
              </a:rPr>
              <a:t>¿Qué es PerfumeTrending?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457200" y="1627632"/>
            <a:ext cx="6309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162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B1620"/>
                </a:solidFill>
                <a:latin typeface="Calibri"/>
                <a:ea typeface="Calibri"/>
                <a:cs typeface="Calibri"/>
                <a:sym typeface="Calibri"/>
              </a:rPr>
              <a:t>Plataforma web inteligente que centraliza el mercado de perfumería chileno: extrae precios en tiempo real (Web Scraping), evalúa la confianza de cada tienda (Trust Score) y detecta fragancias virales con IA (Hype Radar), todo en una interfaz Streamlit.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57200" y="2971800"/>
            <a:ext cx="292608" cy="292608"/>
          </a:xfrm>
          <a:prstGeom prst="ellipse">
            <a:avLst/>
          </a:prstGeom>
          <a:solidFill>
            <a:srgbClr val="8C5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896112" y="2916936"/>
            <a:ext cx="5852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A1F2B"/>
                </a:solidFill>
                <a:latin typeface="Calibri"/>
                <a:ea typeface="Calibri"/>
                <a:cs typeface="Calibri"/>
                <a:sym typeface="Calibri"/>
              </a:rPr>
              <a:t>Precios dispersos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896112" y="3227832"/>
            <a:ext cx="5852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Grandes cadenas y tiendas independientes ofrecen valores muy distintos por la misma fragancia.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57200" y="3931920"/>
            <a:ext cx="292608" cy="292608"/>
          </a:xfrm>
          <a:prstGeom prst="ellipse">
            <a:avLst/>
          </a:prstGeom>
          <a:solidFill>
            <a:srgbClr val="8C5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 txBox="1"/>
          <p:nvPr/>
        </p:nvSpPr>
        <p:spPr>
          <a:xfrm>
            <a:off x="896112" y="3877056"/>
            <a:ext cx="5852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A1F2B"/>
                </a:solidFill>
                <a:latin typeface="Calibri"/>
                <a:ea typeface="Calibri"/>
                <a:cs typeface="Calibri"/>
                <a:sym typeface="Calibri"/>
              </a:rPr>
              <a:t>Riesgo de fraude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896112" y="4187952"/>
            <a:ext cx="5852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Aumento de tiendas falsas y réplicas no autorizadas vendidas por redes sociales.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57200" y="4892040"/>
            <a:ext cx="292608" cy="292608"/>
          </a:xfrm>
          <a:prstGeom prst="ellipse">
            <a:avLst/>
          </a:prstGeom>
          <a:solidFill>
            <a:srgbClr val="8C5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 txBox="1"/>
          <p:nvPr/>
        </p:nvSpPr>
        <p:spPr>
          <a:xfrm>
            <a:off x="896112" y="4837176"/>
            <a:ext cx="5852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A1F2B"/>
                </a:solidFill>
                <a:latin typeface="Calibri"/>
                <a:ea typeface="Calibri"/>
                <a:cs typeface="Calibri"/>
                <a:sym typeface="Calibri"/>
              </a:rPr>
              <a:t>Tendencias volátiles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896112" y="5148072"/>
            <a:ext cx="5852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Perfumes que se vuelven virales en TikTok/Instagram y se agotan antes de poder comprarlos.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7086600" y="1234440"/>
            <a:ext cx="4617720" cy="4572000"/>
          </a:xfrm>
          <a:prstGeom prst="roundRect">
            <a:avLst>
              <a:gd fmla="val 2400" name="adj"/>
            </a:avLst>
          </a:prstGeom>
          <a:solidFill>
            <a:srgbClr val="3A1F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 txBox="1"/>
          <p:nvPr/>
        </p:nvSpPr>
        <p:spPr>
          <a:xfrm>
            <a:off x="7406640" y="146304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4B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C9A24B"/>
                </a:solidFill>
                <a:latin typeface="Cambria"/>
                <a:ea typeface="Cambria"/>
                <a:cs typeface="Cambria"/>
                <a:sym typeface="Cambria"/>
              </a:rPr>
              <a:t>El mercado en cifras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 txBox="1"/>
          <p:nvPr/>
        </p:nvSpPr>
        <p:spPr>
          <a:xfrm>
            <a:off x="7406640" y="2011680"/>
            <a:ext cx="1828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+68%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7406640" y="2670048"/>
            <a:ext cx="3977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9D9D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9D9DE"/>
                </a:solidFill>
                <a:latin typeface="Calibri"/>
                <a:ea typeface="Calibri"/>
                <a:cs typeface="Calibri"/>
                <a:sym typeface="Calibri"/>
              </a:rPr>
              <a:t>crecimiento en ventas de perfumería en Chile (2020-2024, US$155M → US$261M)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7406640" y="3218688"/>
            <a:ext cx="1828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37,5%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7406640" y="3877056"/>
            <a:ext cx="3977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9D9D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9D9DE"/>
                </a:solidFill>
                <a:latin typeface="Calibri"/>
                <a:ea typeface="Calibri"/>
                <a:cs typeface="Calibri"/>
                <a:sym typeface="Calibri"/>
              </a:rPr>
              <a:t>cuota de mercado de la perfumería árabe, la categoría de mayor crecimiento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7406640" y="4425696"/>
            <a:ext cx="1828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250+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7406640" y="5084064"/>
            <a:ext cx="3977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9D9D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9D9DE"/>
                </a:solidFill>
                <a:latin typeface="Calibri"/>
                <a:ea typeface="Calibri"/>
                <a:cs typeface="Calibri"/>
                <a:sym typeface="Calibri"/>
              </a:rPr>
              <a:t>tiendas especializadas solo en la Región Metropolitana (+50% desde 2019)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" name="Google Shape;61;p2"/>
          <p:cNvCxnSpPr/>
          <p:nvPr/>
        </p:nvCxnSpPr>
        <p:spPr>
          <a:xfrm>
            <a:off x="7406640" y="5650992"/>
            <a:ext cx="3977640" cy="0"/>
          </a:xfrm>
          <a:prstGeom prst="straightConnector1">
            <a:avLst/>
          </a:prstGeom>
          <a:noFill/>
          <a:ln cap="flat" cmpd="sng" w="9525">
            <a:solidFill>
              <a:srgbClr val="6B46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2"/>
          <p:cNvSpPr txBox="1"/>
          <p:nvPr/>
        </p:nvSpPr>
        <p:spPr>
          <a:xfrm>
            <a:off x="7406640" y="5779008"/>
            <a:ext cx="39776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A24B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C9A24B"/>
                </a:solidFill>
                <a:latin typeface="Calibri"/>
                <a:ea typeface="Calibri"/>
                <a:cs typeface="Calibri"/>
                <a:sym typeface="Calibri"/>
              </a:rPr>
              <a:t>Impacto real: un mercado de US$261M en expansión, con consumidores más informados pero sin herramientas para comparar, verificar o anticiparse.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1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PerfumeTrending ·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0E8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9dfae092d_0_0"/>
          <p:cNvSpPr/>
          <p:nvPr/>
        </p:nvSpPr>
        <p:spPr>
          <a:xfrm>
            <a:off x="457200" y="411480"/>
            <a:ext cx="567000" cy="567000"/>
          </a:xfrm>
          <a:prstGeom prst="ellipse">
            <a:avLst/>
          </a:prstGeom>
          <a:solidFill>
            <a:srgbClr val="C9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f9dfae092d_0_0"/>
          <p:cNvSpPr txBox="1"/>
          <p:nvPr/>
        </p:nvSpPr>
        <p:spPr>
          <a:xfrm>
            <a:off x="457200" y="41148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3f9dfae092d_0_0"/>
          <p:cNvSpPr txBox="1"/>
          <p:nvPr/>
        </p:nvSpPr>
        <p:spPr>
          <a:xfrm>
            <a:off x="10085832" y="647395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1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g3f9dfae092d_0_0"/>
          <p:cNvSpPr txBox="1"/>
          <p:nvPr/>
        </p:nvSpPr>
        <p:spPr>
          <a:xfrm>
            <a:off x="457200" y="6473952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PerfumeTrending ·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g3f9dfae092d_0_0" title="part 1 MOCKUP HOM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8951" y="384050"/>
            <a:ext cx="6314102" cy="3157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g3f9dfae092d_0_0" title="part 2 MOCKUP PERFUME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38951" y="3591100"/>
            <a:ext cx="6314102" cy="315705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g3f9dfae092d_0_0"/>
          <p:cNvSpPr txBox="1"/>
          <p:nvPr/>
        </p:nvSpPr>
        <p:spPr>
          <a:xfrm>
            <a:off x="1158758" y="374873"/>
            <a:ext cx="10332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MOCKUPS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0E8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9dfae092d_0_48"/>
          <p:cNvSpPr/>
          <p:nvPr/>
        </p:nvSpPr>
        <p:spPr>
          <a:xfrm>
            <a:off x="457200" y="411480"/>
            <a:ext cx="567000" cy="567000"/>
          </a:xfrm>
          <a:prstGeom prst="ellipse">
            <a:avLst/>
          </a:prstGeom>
          <a:solidFill>
            <a:srgbClr val="C9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f9dfae092d_0_48"/>
          <p:cNvSpPr txBox="1"/>
          <p:nvPr/>
        </p:nvSpPr>
        <p:spPr>
          <a:xfrm>
            <a:off x="457200" y="41148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g3f9dfae092d_0_48"/>
          <p:cNvSpPr txBox="1"/>
          <p:nvPr/>
        </p:nvSpPr>
        <p:spPr>
          <a:xfrm>
            <a:off x="1158758" y="374873"/>
            <a:ext cx="10332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MOCKUPS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f9dfae092d_0_48"/>
          <p:cNvSpPr txBox="1"/>
          <p:nvPr/>
        </p:nvSpPr>
        <p:spPr>
          <a:xfrm>
            <a:off x="10085832" y="647395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1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f9dfae092d_0_48"/>
          <p:cNvSpPr txBox="1"/>
          <p:nvPr/>
        </p:nvSpPr>
        <p:spPr>
          <a:xfrm>
            <a:off x="457200" y="6473952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PerfumeTrending ·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g3f9dfae092d_0_48" title="part 6 RADAR HYPE MOCKUP SCORE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8951" y="384050"/>
            <a:ext cx="6314102" cy="3157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g3f9dfae092d_0_48" title="part 1 MOCKUP HOM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8951" y="3591100"/>
            <a:ext cx="6314102" cy="3157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0E8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9dfae092d_0_30"/>
          <p:cNvSpPr/>
          <p:nvPr/>
        </p:nvSpPr>
        <p:spPr>
          <a:xfrm>
            <a:off x="457200" y="411480"/>
            <a:ext cx="567000" cy="567000"/>
          </a:xfrm>
          <a:prstGeom prst="ellipse">
            <a:avLst/>
          </a:prstGeom>
          <a:solidFill>
            <a:srgbClr val="C9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f9dfae092d_0_30"/>
          <p:cNvSpPr txBox="1"/>
          <p:nvPr/>
        </p:nvSpPr>
        <p:spPr>
          <a:xfrm>
            <a:off x="457200" y="41148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f9dfae092d_0_30"/>
          <p:cNvSpPr txBox="1"/>
          <p:nvPr/>
        </p:nvSpPr>
        <p:spPr>
          <a:xfrm>
            <a:off x="1207008" y="384048"/>
            <a:ext cx="10332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BPM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f9dfae092d_0_30"/>
          <p:cNvSpPr txBox="1"/>
          <p:nvPr/>
        </p:nvSpPr>
        <p:spPr>
          <a:xfrm>
            <a:off x="10085832" y="647395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1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f9dfae092d_0_30"/>
          <p:cNvSpPr txBox="1"/>
          <p:nvPr/>
        </p:nvSpPr>
        <p:spPr>
          <a:xfrm>
            <a:off x="457200" y="6473952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PerfumeTrending ·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3f9dfae092d_0_30"/>
          <p:cNvSpPr txBox="1"/>
          <p:nvPr/>
        </p:nvSpPr>
        <p:spPr>
          <a:xfrm>
            <a:off x="457200" y="1463250"/>
            <a:ext cx="5604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Captura de Datos </a:t>
            </a:r>
            <a:r>
              <a:rPr b="1"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(Entrada / Data Ingestion)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Web Scraping Automatizado:</a:t>
            </a:r>
            <a:r>
              <a:rPr lang="en-US" sz="1100">
                <a:solidFill>
                  <a:schemeClr val="dk1"/>
                </a:solidFill>
              </a:rPr>
              <a:t> Extracción periódica de precios, stock, tiendas y catálogos de e-commerces en Chile.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Extracción de Redes Sociales:</a:t>
            </a:r>
            <a:r>
              <a:rPr lang="en-US" sz="1100">
                <a:solidFill>
                  <a:schemeClr val="dk1"/>
                </a:solidFill>
              </a:rPr>
              <a:t> Captura de menciones, número de videos y reproducciones en YouTube.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Alertas del Usuario:</a:t>
            </a:r>
            <a:r>
              <a:rPr lang="en-US" sz="1100">
                <a:solidFill>
                  <a:schemeClr val="dk1"/>
                </a:solidFill>
              </a:rPr>
              <a:t> Registro de búsquedas, marcas favoritas y precios meta del usuario.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f9dfae092d_0_30"/>
          <p:cNvSpPr txBox="1"/>
          <p:nvPr/>
        </p:nvSpPr>
        <p:spPr>
          <a:xfrm>
            <a:off x="457200" y="4035650"/>
            <a:ext cx="56040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Procesamiento e Inteligencia (Motor Core / Backend)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Normalización de Datos:</a:t>
            </a:r>
            <a:r>
              <a:rPr lang="en-US" sz="1100">
                <a:solidFill>
                  <a:schemeClr val="dk1"/>
                </a:solidFill>
              </a:rPr>
              <a:t> Limpieza, desduplicación y homologación de nombres de perfumes e imprevistos en catalogación.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Cálculo del Trust Score:</a:t>
            </a:r>
            <a:r>
              <a:rPr lang="en-US" sz="1100">
                <a:solidFill>
                  <a:schemeClr val="dk1"/>
                </a:solidFill>
              </a:rPr>
              <a:t> Evaluación de la transparencia, antigüedad, canal formal y métricas de seguridad de cada e-commerce.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Cálculo de Hype Score (IA):</a:t>
            </a:r>
            <a:r>
              <a:rPr lang="en-US" sz="1100">
                <a:solidFill>
                  <a:schemeClr val="dk1"/>
                </a:solidFill>
              </a:rPr>
              <a:t> Algoritmo que procesa el volumen de conversación social para medir el nivel de virabilidad.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01" name="Google Shape;101;g3f9dfae092d_0_30" title="The One Thing You NEED To Stop Doing With Your iPhone Each Night--It’s Ruining The Battery!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6425" y="411475"/>
            <a:ext cx="5438200" cy="6062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0E8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9dfae092d_0_78"/>
          <p:cNvSpPr/>
          <p:nvPr/>
        </p:nvSpPr>
        <p:spPr>
          <a:xfrm>
            <a:off x="457200" y="411480"/>
            <a:ext cx="567000" cy="567000"/>
          </a:xfrm>
          <a:prstGeom prst="ellipse">
            <a:avLst/>
          </a:prstGeom>
          <a:solidFill>
            <a:srgbClr val="C9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f9dfae092d_0_78"/>
          <p:cNvSpPr txBox="1"/>
          <p:nvPr/>
        </p:nvSpPr>
        <p:spPr>
          <a:xfrm>
            <a:off x="457200" y="41148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f9dfae092d_0_78"/>
          <p:cNvSpPr txBox="1"/>
          <p:nvPr/>
        </p:nvSpPr>
        <p:spPr>
          <a:xfrm>
            <a:off x="1207008" y="384048"/>
            <a:ext cx="10332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BPM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3f9dfae092d_0_78"/>
          <p:cNvSpPr txBox="1"/>
          <p:nvPr/>
        </p:nvSpPr>
        <p:spPr>
          <a:xfrm>
            <a:off x="10085832" y="647395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1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f9dfae092d_0_78"/>
          <p:cNvSpPr txBox="1"/>
          <p:nvPr/>
        </p:nvSpPr>
        <p:spPr>
          <a:xfrm>
            <a:off x="457200" y="6473952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PerfumeTrending ·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f9dfae092d_0_78"/>
          <p:cNvSpPr txBox="1"/>
          <p:nvPr/>
        </p:nvSpPr>
        <p:spPr>
          <a:xfrm>
            <a:off x="457200" y="1463250"/>
            <a:ext cx="56040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Visualización y Salida (Frontend / Streamlit)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Comparador de Precios:</a:t>
            </a:r>
            <a:r>
              <a:rPr lang="en-US" sz="1100">
                <a:solidFill>
                  <a:schemeClr val="dk1"/>
                </a:solidFill>
              </a:rPr>
              <a:t> Muestra las mejores ofertas del mercado chileno ordenadas por precio y stock real.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Ficha de Transparencia:</a:t>
            </a:r>
            <a:r>
              <a:rPr lang="en-US" sz="1100">
                <a:solidFill>
                  <a:schemeClr val="dk1"/>
                </a:solidFill>
              </a:rPr>
              <a:t> Despliegue visual del nivel de confianza (</a:t>
            </a:r>
            <a:r>
              <a:rPr i="1" lang="en-US" sz="1100">
                <a:solidFill>
                  <a:schemeClr val="dk1"/>
                </a:solidFill>
              </a:rPr>
              <a:t>Trust Score</a:t>
            </a:r>
            <a:r>
              <a:rPr lang="en-US" sz="1100">
                <a:solidFill>
                  <a:schemeClr val="dk1"/>
                </a:solidFill>
              </a:rPr>
              <a:t>) de cada tienda analizada.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HYPE Radar:</a:t>
            </a:r>
            <a:r>
              <a:rPr lang="en-US" sz="1100">
                <a:solidFill>
                  <a:schemeClr val="dk1"/>
                </a:solidFill>
              </a:rPr>
              <a:t> Listado de perfumes más virales con métricas duras (ej. +420% menciones, disponibilidad en Chile).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13" name="Google Shape;113;g3f9dfae092d_0_78"/>
          <p:cNvSpPr txBox="1"/>
          <p:nvPr/>
        </p:nvSpPr>
        <p:spPr>
          <a:xfrm>
            <a:off x="457200" y="4035650"/>
            <a:ext cx="5604000" cy="16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Valor para el Consumidor (Generación de Valor)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Ahorro de Tiempo y Dinero:</a:t>
            </a:r>
            <a:r>
              <a:rPr lang="en-US" sz="1100">
                <a:solidFill>
                  <a:schemeClr val="dk1"/>
                </a:solidFill>
              </a:rPr>
              <a:t> Comparación centralizada en una sola búsqueda.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Compra Segura:</a:t>
            </a:r>
            <a:r>
              <a:rPr lang="en-US" sz="1100">
                <a:solidFill>
                  <a:schemeClr val="dk1"/>
                </a:solidFill>
              </a:rPr>
              <a:t> Mitigación del riesgo de estafa o réplicas falsas.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Decisión Informada:</a:t>
            </a:r>
            <a:r>
              <a:rPr lang="en-US" sz="1100">
                <a:solidFill>
                  <a:schemeClr val="dk1"/>
                </a:solidFill>
              </a:rPr>
              <a:t> Notificaciones de bajadas de precio y alertas anticipadas de stock.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114" name="Google Shape;114;g3f9dfae092d_0_78" title="Conquista tu landing page para lograr resultados excepcionales_.jpg"/>
          <p:cNvPicPr preferRelativeResize="0"/>
          <p:nvPr/>
        </p:nvPicPr>
        <p:blipFill rotWithShape="1">
          <a:blip r:embed="rId3">
            <a:alphaModFix/>
          </a:blip>
          <a:srcRect b="12835" l="0" r="0" t="12843"/>
          <a:stretch/>
        </p:blipFill>
        <p:spPr>
          <a:xfrm>
            <a:off x="6476425" y="411475"/>
            <a:ext cx="5438199" cy="606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0E8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C9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1207008" y="384048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Perfil de Egreso e Intereses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457200" y="1207008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5B6B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8C5B6B"/>
                </a:solidFill>
                <a:latin typeface="Cambria"/>
                <a:ea typeface="Cambria"/>
                <a:cs typeface="Cambria"/>
                <a:sym typeface="Cambria"/>
              </a:rPr>
              <a:t>Competencias del perfil de egreso aplicadas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457200" y="1572768"/>
            <a:ext cx="2770632" cy="502920"/>
          </a:xfrm>
          <a:prstGeom prst="roundRect">
            <a:avLst>
              <a:gd fmla="val 14545" name="adj"/>
            </a:avLst>
          </a:prstGeom>
          <a:solidFill>
            <a:srgbClr val="3A1F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548640" y="1572768"/>
            <a:ext cx="25877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24B"/>
                </a:solidFill>
                <a:latin typeface="Calibri"/>
                <a:ea typeface="Calibri"/>
                <a:cs typeface="Calibri"/>
                <a:sym typeface="Calibri"/>
              </a:rPr>
              <a:t>Modelos de datos escalables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3310128" y="1572768"/>
            <a:ext cx="2770632" cy="502920"/>
          </a:xfrm>
          <a:prstGeom prst="roundRect">
            <a:avLst>
              <a:gd fmla="val 14545" name="adj"/>
            </a:avLst>
          </a:prstGeom>
          <a:solidFill>
            <a:srgbClr val="3A1F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3401568" y="1572768"/>
            <a:ext cx="25877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24B"/>
                </a:solidFill>
                <a:latin typeface="Calibri"/>
                <a:ea typeface="Calibri"/>
                <a:cs typeface="Calibri"/>
                <a:sym typeface="Calibri"/>
              </a:rPr>
              <a:t>Software sistematizado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6163056" y="1572768"/>
            <a:ext cx="2770632" cy="502920"/>
          </a:xfrm>
          <a:prstGeom prst="roundRect">
            <a:avLst>
              <a:gd fmla="val 14545" name="adj"/>
            </a:avLst>
          </a:prstGeom>
          <a:solidFill>
            <a:srgbClr val="3A1F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6254496" y="1572768"/>
            <a:ext cx="25877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24B"/>
                </a:solidFill>
                <a:latin typeface="Calibri"/>
                <a:ea typeface="Calibri"/>
                <a:cs typeface="Calibri"/>
                <a:sym typeface="Calibri"/>
              </a:rPr>
              <a:t>Automatización de procesos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9015984" y="1572768"/>
            <a:ext cx="2770632" cy="502920"/>
          </a:xfrm>
          <a:prstGeom prst="roundRect">
            <a:avLst>
              <a:gd fmla="val 14545" name="adj"/>
            </a:avLst>
          </a:prstGeom>
          <a:solidFill>
            <a:srgbClr val="3A1F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"/>
          <p:cNvSpPr txBox="1"/>
          <p:nvPr/>
        </p:nvSpPr>
        <p:spPr>
          <a:xfrm>
            <a:off x="9107424" y="1572768"/>
            <a:ext cx="25877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9A24B"/>
                </a:solidFill>
                <a:latin typeface="Calibri"/>
                <a:ea typeface="Calibri"/>
                <a:cs typeface="Calibri"/>
                <a:sym typeface="Calibri"/>
              </a:rPr>
              <a:t>Seguridad y vulnerabilidades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457200" y="2331720"/>
            <a:ext cx="3657600" cy="3520440"/>
          </a:xfrm>
          <a:prstGeom prst="roundRect">
            <a:avLst>
              <a:gd fmla="val 2597" name="adj"/>
            </a:avLst>
          </a:prstGeom>
          <a:solidFill>
            <a:srgbClr val="FFFFFF"/>
          </a:solidFill>
          <a:ln cap="flat" cmpd="sng" w="12700">
            <a:solidFill>
              <a:srgbClr val="E3D3D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3A1F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"/>
          <p:cNvSpPr/>
          <p:nvPr/>
        </p:nvSpPr>
        <p:spPr>
          <a:xfrm>
            <a:off x="685800" y="2606040"/>
            <a:ext cx="502920" cy="502920"/>
          </a:xfrm>
          <a:prstGeom prst="ellipse">
            <a:avLst/>
          </a:prstGeom>
          <a:solidFill>
            <a:srgbClr val="C9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685800" y="26060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BE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1325880" y="2606040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Benjamín Espinoza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1325880" y="289864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5B6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8C5B6B"/>
                </a:solidFill>
                <a:latin typeface="Calibri"/>
                <a:ea typeface="Calibri"/>
                <a:cs typeface="Calibri"/>
                <a:sym typeface="Calibri"/>
              </a:rPr>
              <a:t>Frontend &amp; Conexiones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685800" y="333756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ROL EN EL PROYECTO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685800" y="356616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162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B1620"/>
                </a:solidFill>
                <a:latin typeface="Calibri"/>
                <a:ea typeface="Calibri"/>
                <a:cs typeface="Calibri"/>
                <a:sym typeface="Calibri"/>
              </a:rPr>
              <a:t>Lidera la interfaz en Streamlit y la integración Frontend-Backend.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139;p3"/>
          <p:cNvCxnSpPr/>
          <p:nvPr/>
        </p:nvCxnSpPr>
        <p:spPr>
          <a:xfrm>
            <a:off x="685800" y="4572000"/>
            <a:ext cx="3200400" cy="0"/>
          </a:xfrm>
          <a:prstGeom prst="straightConnector1">
            <a:avLst/>
          </a:prstGeom>
          <a:noFill/>
          <a:ln cap="flat" cmpd="sng" w="9525">
            <a:solidFill>
              <a:srgbClr val="E3D3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3"/>
          <p:cNvSpPr txBox="1"/>
          <p:nvPr/>
        </p:nvSpPr>
        <p:spPr>
          <a:xfrm>
            <a:off x="685800" y="468172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INTERÉS PROFESIONAL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685800" y="4910328"/>
            <a:ext cx="3200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A1F2B"/>
                </a:solidFill>
                <a:latin typeface="Calibri"/>
                <a:ea typeface="Calibri"/>
                <a:cs typeface="Calibri"/>
                <a:sym typeface="Calibri"/>
              </a:rPr>
              <a:t>Desarrollo de experiencias de usuario e interfaces interactivas.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4261104" y="2331720"/>
            <a:ext cx="3657600" cy="3520440"/>
          </a:xfrm>
          <a:prstGeom prst="roundRect">
            <a:avLst>
              <a:gd fmla="val 2597" name="adj"/>
            </a:avLst>
          </a:prstGeom>
          <a:solidFill>
            <a:srgbClr val="FFFFFF"/>
          </a:solidFill>
          <a:ln cap="flat" cmpd="sng" w="12700">
            <a:solidFill>
              <a:srgbClr val="E3D3D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3A1F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4489704" y="2606040"/>
            <a:ext cx="502920" cy="502920"/>
          </a:xfrm>
          <a:prstGeom prst="ellipse">
            <a:avLst/>
          </a:prstGeom>
          <a:solidFill>
            <a:srgbClr val="C9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4489704" y="26060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DM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 txBox="1"/>
          <p:nvPr/>
        </p:nvSpPr>
        <p:spPr>
          <a:xfrm>
            <a:off x="5129784" y="2606040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Diego Medina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5129784" y="289864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5B6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8C5B6B"/>
                </a:solidFill>
                <a:latin typeface="Calibri"/>
                <a:ea typeface="Calibri"/>
                <a:cs typeface="Calibri"/>
                <a:sym typeface="Calibri"/>
              </a:rPr>
              <a:t>Backend, Scraping &amp; Datos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4489704" y="333756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ROL EN EL PROYECTO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 txBox="1"/>
          <p:nvPr/>
        </p:nvSpPr>
        <p:spPr>
          <a:xfrm>
            <a:off x="4489704" y="356616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162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B1620"/>
                </a:solidFill>
                <a:latin typeface="Calibri"/>
                <a:ea typeface="Calibri"/>
                <a:cs typeface="Calibri"/>
                <a:sym typeface="Calibri"/>
              </a:rPr>
              <a:t>Motor de Web Scraping, APIs externas y modelado de base de datos.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3"/>
          <p:cNvCxnSpPr/>
          <p:nvPr/>
        </p:nvCxnSpPr>
        <p:spPr>
          <a:xfrm>
            <a:off x="4489704" y="4572000"/>
            <a:ext cx="3200400" cy="0"/>
          </a:xfrm>
          <a:prstGeom prst="straightConnector1">
            <a:avLst/>
          </a:prstGeom>
          <a:noFill/>
          <a:ln cap="flat" cmpd="sng" w="9525">
            <a:solidFill>
              <a:srgbClr val="E3D3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3"/>
          <p:cNvSpPr txBox="1"/>
          <p:nvPr/>
        </p:nvSpPr>
        <p:spPr>
          <a:xfrm>
            <a:off x="4489704" y="468172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INTERÉS PROFESIONAL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4489704" y="4910328"/>
            <a:ext cx="3200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A1F2B"/>
                </a:solidFill>
                <a:latin typeface="Calibri"/>
                <a:ea typeface="Calibri"/>
                <a:cs typeface="Calibri"/>
                <a:sym typeface="Calibri"/>
              </a:rPr>
              <a:t>Ingeniería de datos y arquitectura de sistemas backend.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8065008" y="2331720"/>
            <a:ext cx="3657600" cy="3520440"/>
          </a:xfrm>
          <a:prstGeom prst="roundRect">
            <a:avLst>
              <a:gd fmla="val 2597" name="adj"/>
            </a:avLst>
          </a:prstGeom>
          <a:solidFill>
            <a:srgbClr val="FFFFFF"/>
          </a:solidFill>
          <a:ln cap="flat" cmpd="sng" w="12700">
            <a:solidFill>
              <a:srgbClr val="E3D3D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3A1F2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"/>
          <p:cNvSpPr/>
          <p:nvPr/>
        </p:nvSpPr>
        <p:spPr>
          <a:xfrm>
            <a:off x="8293608" y="2606040"/>
            <a:ext cx="502920" cy="502920"/>
          </a:xfrm>
          <a:prstGeom prst="ellipse">
            <a:avLst/>
          </a:prstGeom>
          <a:solidFill>
            <a:srgbClr val="C9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"/>
          <p:cNvSpPr txBox="1"/>
          <p:nvPr/>
        </p:nvSpPr>
        <p:spPr>
          <a:xfrm>
            <a:off x="8293608" y="26060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AM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 txBox="1"/>
          <p:nvPr/>
        </p:nvSpPr>
        <p:spPr>
          <a:xfrm>
            <a:off x="8933688" y="2606040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Alonso Moreno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8933688" y="289864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5B6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8C5B6B"/>
                </a:solidFill>
                <a:latin typeface="Calibri"/>
                <a:ea typeface="Calibri"/>
                <a:cs typeface="Calibri"/>
                <a:sym typeface="Calibri"/>
              </a:rPr>
              <a:t>Documentación &amp; Python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 txBox="1"/>
          <p:nvPr/>
        </p:nvSpPr>
        <p:spPr>
          <a:xfrm>
            <a:off x="8293608" y="333756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ROL EN EL PROYECTO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 txBox="1"/>
          <p:nvPr/>
        </p:nvSpPr>
        <p:spPr>
          <a:xfrm>
            <a:off x="8293608" y="356616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162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B1620"/>
                </a:solidFill>
                <a:latin typeface="Calibri"/>
                <a:ea typeface="Calibri"/>
                <a:cs typeface="Calibri"/>
                <a:sym typeface="Calibri"/>
              </a:rPr>
              <a:t>Documentación técnica/académica, scripts en Python y soporte de integración.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3"/>
          <p:cNvCxnSpPr/>
          <p:nvPr/>
        </p:nvCxnSpPr>
        <p:spPr>
          <a:xfrm>
            <a:off x="8293608" y="4572000"/>
            <a:ext cx="3200400" cy="0"/>
          </a:xfrm>
          <a:prstGeom prst="straightConnector1">
            <a:avLst/>
          </a:prstGeom>
          <a:noFill/>
          <a:ln cap="flat" cmpd="sng" w="9525">
            <a:solidFill>
              <a:srgbClr val="E3D3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3"/>
          <p:cNvSpPr txBox="1"/>
          <p:nvPr/>
        </p:nvSpPr>
        <p:spPr>
          <a:xfrm>
            <a:off x="8293608" y="468172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INTERÉS PROFESIONAL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 txBox="1"/>
          <p:nvPr/>
        </p:nvSpPr>
        <p:spPr>
          <a:xfrm>
            <a:off x="8293608" y="4910328"/>
            <a:ext cx="3200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A1F2B"/>
                </a:solidFill>
                <a:latin typeface="Calibri"/>
                <a:ea typeface="Calibri"/>
                <a:cs typeface="Calibri"/>
                <a:sym typeface="Calibri"/>
              </a:rPr>
              <a:t>Business Intelligence, analítica de datos y soporte TI.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2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PerfumeTrending ·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0E8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a07591c53_0_9"/>
          <p:cNvSpPr/>
          <p:nvPr/>
        </p:nvSpPr>
        <p:spPr>
          <a:xfrm>
            <a:off x="457200" y="411480"/>
            <a:ext cx="567000" cy="567000"/>
          </a:xfrm>
          <a:prstGeom prst="ellipse">
            <a:avLst/>
          </a:prstGeom>
          <a:solidFill>
            <a:srgbClr val="C9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fa07591c53_0_9"/>
          <p:cNvSpPr txBox="1"/>
          <p:nvPr/>
        </p:nvSpPr>
        <p:spPr>
          <a:xfrm>
            <a:off x="457200" y="41148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fa07591c53_0_9"/>
          <p:cNvSpPr txBox="1"/>
          <p:nvPr/>
        </p:nvSpPr>
        <p:spPr>
          <a:xfrm>
            <a:off x="1207008" y="384048"/>
            <a:ext cx="10332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Factibilidad y Riesgos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fa07591c53_0_9"/>
          <p:cNvSpPr/>
          <p:nvPr/>
        </p:nvSpPr>
        <p:spPr>
          <a:xfrm>
            <a:off x="273925" y="1024250"/>
            <a:ext cx="11430600" cy="5724000"/>
          </a:xfrm>
          <a:prstGeom prst="roundRect">
            <a:avLst>
              <a:gd fmla="val 2000" name="adj"/>
            </a:avLst>
          </a:prstGeom>
          <a:solidFill>
            <a:srgbClr val="3A1F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fa07591c53_0_9"/>
          <p:cNvSpPr txBox="1"/>
          <p:nvPr/>
        </p:nvSpPr>
        <p:spPr>
          <a:xfrm>
            <a:off x="10085832" y="647395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3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fa07591c53_0_9"/>
          <p:cNvSpPr txBox="1"/>
          <p:nvPr/>
        </p:nvSpPr>
        <p:spPr>
          <a:xfrm>
            <a:off x="457200" y="6473952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PerfumeTrending ·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g3fa07591c53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6125" y="1066375"/>
            <a:ext cx="8599674" cy="5681775"/>
          </a:xfrm>
          <a:prstGeom prst="rect">
            <a:avLst/>
          </a:prstGeom>
          <a:solidFill>
            <a:srgbClr val="3A1F2B"/>
          </a:solidFill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0E8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a11d80e06_1_13"/>
          <p:cNvSpPr/>
          <p:nvPr/>
        </p:nvSpPr>
        <p:spPr>
          <a:xfrm>
            <a:off x="457200" y="411480"/>
            <a:ext cx="567000" cy="567000"/>
          </a:xfrm>
          <a:prstGeom prst="ellipse">
            <a:avLst/>
          </a:prstGeom>
          <a:solidFill>
            <a:srgbClr val="C9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fa11d80e06_1_13"/>
          <p:cNvSpPr txBox="1"/>
          <p:nvPr/>
        </p:nvSpPr>
        <p:spPr>
          <a:xfrm>
            <a:off x="457200" y="41148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fa11d80e06_1_13"/>
          <p:cNvSpPr txBox="1"/>
          <p:nvPr/>
        </p:nvSpPr>
        <p:spPr>
          <a:xfrm>
            <a:off x="1207008" y="384048"/>
            <a:ext cx="10332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Factibilidad y Riesgos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fa11d80e06_1_13"/>
          <p:cNvSpPr/>
          <p:nvPr/>
        </p:nvSpPr>
        <p:spPr>
          <a:xfrm>
            <a:off x="457200" y="1234450"/>
            <a:ext cx="11247300" cy="5513700"/>
          </a:xfrm>
          <a:prstGeom prst="roundRect">
            <a:avLst>
              <a:gd fmla="val 2000" name="adj"/>
            </a:avLst>
          </a:prstGeom>
          <a:solidFill>
            <a:srgbClr val="3A1F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fa11d80e06_1_13"/>
          <p:cNvSpPr txBox="1"/>
          <p:nvPr/>
        </p:nvSpPr>
        <p:spPr>
          <a:xfrm>
            <a:off x="10085832" y="647395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3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fa11d80e06_1_13"/>
          <p:cNvSpPr txBox="1"/>
          <p:nvPr/>
        </p:nvSpPr>
        <p:spPr>
          <a:xfrm>
            <a:off x="457200" y="6473952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PerfumeTrending ·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g3fa11d80e06_1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0887" y="1403000"/>
            <a:ext cx="9879923" cy="517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0E8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a11d80e06_1_0"/>
          <p:cNvSpPr/>
          <p:nvPr/>
        </p:nvSpPr>
        <p:spPr>
          <a:xfrm>
            <a:off x="457200" y="411480"/>
            <a:ext cx="567000" cy="567000"/>
          </a:xfrm>
          <a:prstGeom prst="ellipse">
            <a:avLst/>
          </a:prstGeom>
          <a:solidFill>
            <a:srgbClr val="C9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fa11d80e06_1_0"/>
          <p:cNvSpPr txBox="1"/>
          <p:nvPr/>
        </p:nvSpPr>
        <p:spPr>
          <a:xfrm>
            <a:off x="457200" y="41148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fa11d80e06_1_0"/>
          <p:cNvSpPr txBox="1"/>
          <p:nvPr/>
        </p:nvSpPr>
        <p:spPr>
          <a:xfrm>
            <a:off x="1207008" y="384048"/>
            <a:ext cx="10332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Factibilidad y Riesgos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fa11d80e06_1_0"/>
          <p:cNvSpPr/>
          <p:nvPr/>
        </p:nvSpPr>
        <p:spPr>
          <a:xfrm>
            <a:off x="293500" y="1024250"/>
            <a:ext cx="11411100" cy="5724000"/>
          </a:xfrm>
          <a:prstGeom prst="roundRect">
            <a:avLst>
              <a:gd fmla="val 2000" name="adj"/>
            </a:avLst>
          </a:prstGeom>
          <a:solidFill>
            <a:srgbClr val="3A1F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fa11d80e06_1_0"/>
          <p:cNvSpPr txBox="1"/>
          <p:nvPr/>
        </p:nvSpPr>
        <p:spPr>
          <a:xfrm>
            <a:off x="10085832" y="647395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3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fa11d80e06_1_0"/>
          <p:cNvSpPr txBox="1"/>
          <p:nvPr/>
        </p:nvSpPr>
        <p:spPr>
          <a:xfrm>
            <a:off x="457200" y="6473952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PerfumeTrending ·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g3fa11d80e06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1966" y="1150038"/>
            <a:ext cx="9148058" cy="547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0E8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C9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5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 txBox="1"/>
          <p:nvPr/>
        </p:nvSpPr>
        <p:spPr>
          <a:xfrm>
            <a:off x="1207008" y="384048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Objetivos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457200" y="1234440"/>
            <a:ext cx="11247120" cy="1051560"/>
          </a:xfrm>
          <a:prstGeom prst="roundRect">
            <a:avLst>
              <a:gd fmla="val 8696" name="adj"/>
            </a:avLst>
          </a:prstGeom>
          <a:solidFill>
            <a:srgbClr val="3A1F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5"/>
          <p:cNvSpPr txBox="1"/>
          <p:nvPr/>
        </p:nvSpPr>
        <p:spPr>
          <a:xfrm>
            <a:off x="731520" y="135331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4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24B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731520" y="1609344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E4E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2E4E9"/>
                </a:solidFill>
                <a:latin typeface="Calibri"/>
                <a:ea typeface="Calibri"/>
                <a:cs typeface="Calibri"/>
                <a:sym typeface="Calibri"/>
              </a:rPr>
              <a:t>Desarrollar PerfumeTrending, una plataforma web con Python y Streamlit que integre Web Scraping, IA para tendencias y un sistema de transparencia, para comparar precios, detectar tendencias virales y verificar la confianza de tiendas electrónicas.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 txBox="1"/>
          <p:nvPr/>
        </p:nvSpPr>
        <p:spPr>
          <a:xfrm>
            <a:off x="457200" y="24688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457200" y="2834640"/>
            <a:ext cx="3657600" cy="14630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E3D3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5"/>
          <p:cNvSpPr txBox="1"/>
          <p:nvPr/>
        </p:nvSpPr>
        <p:spPr>
          <a:xfrm>
            <a:off x="594360" y="292608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CCD3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E3CCD3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640080" y="3364992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A1F2B"/>
                </a:solidFill>
                <a:latin typeface="Calibri"/>
                <a:ea typeface="Calibri"/>
                <a:cs typeface="Calibri"/>
                <a:sym typeface="Calibri"/>
              </a:rPr>
              <a:t>Web Scraping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640080" y="3675888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Motores automatizados para extraer precios, stock y catálogos de tiendas chilenas.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4251960" y="2834640"/>
            <a:ext cx="3657600" cy="14630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E3D3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5"/>
          <p:cNvSpPr txBox="1"/>
          <p:nvPr/>
        </p:nvSpPr>
        <p:spPr>
          <a:xfrm>
            <a:off x="4389120" y="292608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CCD3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E3CCD3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 txBox="1"/>
          <p:nvPr/>
        </p:nvSpPr>
        <p:spPr>
          <a:xfrm>
            <a:off x="4434840" y="3364992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A1F2B"/>
                </a:solidFill>
                <a:latin typeface="Calibri"/>
                <a:ea typeface="Calibri"/>
                <a:cs typeface="Calibri"/>
                <a:sym typeface="Calibri"/>
              </a:rPr>
              <a:t>Hype Radar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 txBox="1"/>
          <p:nvPr/>
        </p:nvSpPr>
        <p:spPr>
          <a:xfrm>
            <a:off x="4434840" y="3675888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Algoritmo que analiza métricas sociales ( YouTube) para detectar tendencias.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8046720" y="2834640"/>
            <a:ext cx="3657600" cy="14630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E3D3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5"/>
          <p:cNvSpPr txBox="1"/>
          <p:nvPr/>
        </p:nvSpPr>
        <p:spPr>
          <a:xfrm>
            <a:off x="8183880" y="292608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CCD3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E3CCD3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 txBox="1"/>
          <p:nvPr/>
        </p:nvSpPr>
        <p:spPr>
          <a:xfrm>
            <a:off x="8229600" y="3364992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A1F2B"/>
                </a:solidFill>
                <a:latin typeface="Calibri"/>
                <a:ea typeface="Calibri"/>
                <a:cs typeface="Calibri"/>
                <a:sym typeface="Calibri"/>
              </a:rPr>
              <a:t>Trust Score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 txBox="1"/>
          <p:nvPr/>
        </p:nvSpPr>
        <p:spPr>
          <a:xfrm>
            <a:off x="8229600" y="3675888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Índice de transparencia que evalúa seguridad e historial digital de cada e-commerce.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457200" y="4434840"/>
            <a:ext cx="3657600" cy="14630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E3D3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5"/>
          <p:cNvSpPr txBox="1"/>
          <p:nvPr/>
        </p:nvSpPr>
        <p:spPr>
          <a:xfrm>
            <a:off x="594360" y="452628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CCD3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E3CCD3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 txBox="1"/>
          <p:nvPr/>
        </p:nvSpPr>
        <p:spPr>
          <a:xfrm>
            <a:off x="640080" y="4965192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A1F2B"/>
                </a:solidFill>
                <a:latin typeface="Calibri"/>
                <a:ea typeface="Calibri"/>
                <a:cs typeface="Calibri"/>
                <a:sym typeface="Calibri"/>
              </a:rPr>
              <a:t>BD y APIs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 txBox="1"/>
          <p:nvPr/>
        </p:nvSpPr>
        <p:spPr>
          <a:xfrm>
            <a:off x="640080" y="5276088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Modelar el almacenamiento estructurado y el flujo de información Backend-Frontend.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4251960" y="4434840"/>
            <a:ext cx="3657600" cy="14630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E3D3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5"/>
          <p:cNvSpPr txBox="1"/>
          <p:nvPr/>
        </p:nvSpPr>
        <p:spPr>
          <a:xfrm>
            <a:off x="4389120" y="452628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CCD3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E3CCD3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 txBox="1"/>
          <p:nvPr/>
        </p:nvSpPr>
        <p:spPr>
          <a:xfrm>
            <a:off x="4434840" y="4965192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A1F2B"/>
                </a:solidFill>
                <a:latin typeface="Calibri"/>
                <a:ea typeface="Calibri"/>
                <a:cs typeface="Calibri"/>
                <a:sym typeface="Calibri"/>
              </a:rPr>
              <a:t>Interfaz Streamlit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 txBox="1"/>
          <p:nvPr/>
        </p:nvSpPr>
        <p:spPr>
          <a:xfrm>
            <a:off x="4434840" y="5276088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Buscador multicriterio, comparador visual, alertas y selector de tema claro/oscuro.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8046720" y="4434840"/>
            <a:ext cx="3657600" cy="14630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E3D3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5"/>
          <p:cNvSpPr txBox="1"/>
          <p:nvPr/>
        </p:nvSpPr>
        <p:spPr>
          <a:xfrm>
            <a:off x="8183880" y="452628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CCD3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E3CCD3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 txBox="1"/>
          <p:nvPr/>
        </p:nvSpPr>
        <p:spPr>
          <a:xfrm>
            <a:off x="8229600" y="4965192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A1F2B"/>
                </a:solidFill>
                <a:latin typeface="Calibri"/>
                <a:ea typeface="Calibri"/>
                <a:cs typeface="Calibri"/>
                <a:sym typeface="Calibri"/>
              </a:rPr>
              <a:t>CI/CD en GitHub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 txBox="1"/>
          <p:nvPr/>
        </p:nvSpPr>
        <p:spPr>
          <a:xfrm>
            <a:off x="8229600" y="5276088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Control de versiones y despliegue continuo con trazabilidad individual y grupal.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4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5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PerfumeTrending ·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0E8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C9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9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 txBox="1"/>
          <p:nvPr/>
        </p:nvSpPr>
        <p:spPr>
          <a:xfrm>
            <a:off x="1207008" y="384048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Metodología de Trabajo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 txBox="1"/>
          <p:nvPr/>
        </p:nvSpPr>
        <p:spPr>
          <a:xfrm>
            <a:off x="457200" y="12344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5B6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8C5B6B"/>
                </a:solidFill>
                <a:latin typeface="Cambria"/>
                <a:ea typeface="Cambria"/>
                <a:cs typeface="Cambria"/>
                <a:sym typeface="Cambria"/>
              </a:rPr>
              <a:t>Marco metodológico: Cascada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 txBox="1"/>
          <p:nvPr/>
        </p:nvSpPr>
        <p:spPr>
          <a:xfrm>
            <a:off x="457200" y="1627632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162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B1620"/>
                </a:solidFill>
                <a:latin typeface="Calibri"/>
                <a:ea typeface="Calibri"/>
                <a:cs typeface="Calibri"/>
                <a:sym typeface="Calibri"/>
              </a:rPr>
              <a:t>El proyecto se desarrolla bajo un marco estructurado en cascada, que garantiza una planificación clara del alcance, control de entregables y adaptabilidad frente a requerimientos técnicos.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 txBox="1"/>
          <p:nvPr/>
        </p:nvSpPr>
        <p:spPr>
          <a:xfrm>
            <a:off x="457200" y="251460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B162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B1620"/>
                </a:solidFill>
                <a:latin typeface="Calibri"/>
                <a:ea typeface="Calibri"/>
                <a:cs typeface="Calibri"/>
                <a:sym typeface="Calibri"/>
              </a:rPr>
              <a:t>GitHub se centraliza como repositorio oficial: registra tareas, actualizaciones e historial de commits como evidencia continua del trabajo colaborativo.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457200" y="3749040"/>
            <a:ext cx="1554480" cy="502920"/>
          </a:xfrm>
          <a:prstGeom prst="roundRect">
            <a:avLst>
              <a:gd fmla="val 50909" name="adj"/>
            </a:avLst>
          </a:prstGeom>
          <a:solidFill>
            <a:srgbClr val="C9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6"/>
          <p:cNvSpPr txBox="1"/>
          <p:nvPr/>
        </p:nvSpPr>
        <p:spPr>
          <a:xfrm>
            <a:off x="457200" y="374904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A1F2B"/>
                </a:solidFill>
                <a:latin typeface="Calibri"/>
                <a:ea typeface="Calibri"/>
                <a:cs typeface="Calibri"/>
                <a:sym typeface="Calibri"/>
              </a:rPr>
              <a:t>Definición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 txBox="1"/>
          <p:nvPr/>
        </p:nvSpPr>
        <p:spPr>
          <a:xfrm>
            <a:off x="2029968" y="3749040"/>
            <a:ext cx="320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5B6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C5B6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2350008" y="3749040"/>
            <a:ext cx="1554480" cy="502920"/>
          </a:xfrm>
          <a:prstGeom prst="roundRect">
            <a:avLst>
              <a:gd fmla="val 50909" name="adj"/>
            </a:avLst>
          </a:prstGeom>
          <a:solidFill>
            <a:srgbClr val="EDE0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"/>
          <p:cNvSpPr txBox="1"/>
          <p:nvPr/>
        </p:nvSpPr>
        <p:spPr>
          <a:xfrm>
            <a:off x="2350008" y="374904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5B6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8C5B6B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 txBox="1"/>
          <p:nvPr/>
        </p:nvSpPr>
        <p:spPr>
          <a:xfrm>
            <a:off x="3922776" y="3749040"/>
            <a:ext cx="320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5B6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C5B6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4242816" y="3749040"/>
            <a:ext cx="1554480" cy="502920"/>
          </a:xfrm>
          <a:prstGeom prst="roundRect">
            <a:avLst>
              <a:gd fmla="val 50909" name="adj"/>
            </a:avLst>
          </a:prstGeom>
          <a:solidFill>
            <a:srgbClr val="EDE0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6"/>
          <p:cNvSpPr txBox="1"/>
          <p:nvPr/>
        </p:nvSpPr>
        <p:spPr>
          <a:xfrm>
            <a:off x="4242816" y="374904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5B6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8C5B6B"/>
                </a:solidFill>
                <a:latin typeface="Calibri"/>
                <a:ea typeface="Calibri"/>
                <a:cs typeface="Calibri"/>
                <a:sym typeface="Calibri"/>
              </a:rPr>
              <a:t>Cierre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6126480" y="1234440"/>
            <a:ext cx="557784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3D3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6"/>
          <p:cNvSpPr/>
          <p:nvPr/>
        </p:nvSpPr>
        <p:spPr>
          <a:xfrm>
            <a:off x="6309360" y="1417320"/>
            <a:ext cx="384048" cy="384048"/>
          </a:xfrm>
          <a:prstGeom prst="ellipse">
            <a:avLst/>
          </a:prstGeom>
          <a:solidFill>
            <a:srgbClr val="C9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6"/>
          <p:cNvSpPr txBox="1"/>
          <p:nvPr/>
        </p:nvSpPr>
        <p:spPr>
          <a:xfrm>
            <a:off x="6309360" y="14173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BE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 txBox="1"/>
          <p:nvPr/>
        </p:nvSpPr>
        <p:spPr>
          <a:xfrm>
            <a:off x="6812280" y="1371600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Benjamín Espinoza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 txBox="1"/>
          <p:nvPr/>
        </p:nvSpPr>
        <p:spPr>
          <a:xfrm>
            <a:off x="6812280" y="1636776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5B6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8C5B6B"/>
                </a:solidFill>
                <a:latin typeface="Calibri"/>
                <a:ea typeface="Calibri"/>
                <a:cs typeface="Calibri"/>
                <a:sym typeface="Calibri"/>
              </a:rPr>
              <a:t>Frontend &amp; Conexiones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6"/>
          <p:cNvSpPr txBox="1"/>
          <p:nvPr/>
        </p:nvSpPr>
        <p:spPr>
          <a:xfrm>
            <a:off x="6309360" y="1947672"/>
            <a:ext cx="5212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B162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B1620"/>
                </a:solidFill>
                <a:latin typeface="Calibri"/>
                <a:ea typeface="Calibri"/>
                <a:cs typeface="Calibri"/>
                <a:sym typeface="Calibri"/>
              </a:rPr>
              <a:t>Interfaz de usuario en Streamlit, integración de componentes gráficos, despliegue del repositorio y conexión APIs/BD con el Backend.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6126480" y="2807208"/>
            <a:ext cx="557784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3D3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6"/>
          <p:cNvSpPr/>
          <p:nvPr/>
        </p:nvSpPr>
        <p:spPr>
          <a:xfrm>
            <a:off x="6309360" y="2990088"/>
            <a:ext cx="384048" cy="384048"/>
          </a:xfrm>
          <a:prstGeom prst="ellipse">
            <a:avLst/>
          </a:prstGeom>
          <a:solidFill>
            <a:srgbClr val="C9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6"/>
          <p:cNvSpPr txBox="1"/>
          <p:nvPr/>
        </p:nvSpPr>
        <p:spPr>
          <a:xfrm>
            <a:off x="6309360" y="29900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DM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6"/>
          <p:cNvSpPr txBox="1"/>
          <p:nvPr/>
        </p:nvSpPr>
        <p:spPr>
          <a:xfrm>
            <a:off x="6812280" y="294436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Diego Medina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"/>
          <p:cNvSpPr txBox="1"/>
          <p:nvPr/>
        </p:nvSpPr>
        <p:spPr>
          <a:xfrm>
            <a:off x="6812280" y="3209544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5B6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8C5B6B"/>
                </a:solidFill>
                <a:latin typeface="Calibri"/>
                <a:ea typeface="Calibri"/>
                <a:cs typeface="Calibri"/>
                <a:sym typeface="Calibri"/>
              </a:rPr>
              <a:t>Backend, Scraping &amp; Datos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 txBox="1"/>
          <p:nvPr/>
        </p:nvSpPr>
        <p:spPr>
          <a:xfrm>
            <a:off x="6309360" y="3520440"/>
            <a:ext cx="5212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B162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B1620"/>
                </a:solidFill>
                <a:latin typeface="Calibri"/>
                <a:ea typeface="Calibri"/>
                <a:cs typeface="Calibri"/>
                <a:sym typeface="Calibri"/>
              </a:rPr>
              <a:t>Motor de Web Scraping, gestión e integración de APIs externas, modelado e implementación de la Base de Datos.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6"/>
          <p:cNvSpPr/>
          <p:nvPr/>
        </p:nvSpPr>
        <p:spPr>
          <a:xfrm>
            <a:off x="6126480" y="4379976"/>
            <a:ext cx="557784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3D3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6"/>
          <p:cNvSpPr/>
          <p:nvPr/>
        </p:nvSpPr>
        <p:spPr>
          <a:xfrm>
            <a:off x="6309360" y="4562856"/>
            <a:ext cx="384048" cy="384048"/>
          </a:xfrm>
          <a:prstGeom prst="ellipse">
            <a:avLst/>
          </a:prstGeom>
          <a:solidFill>
            <a:srgbClr val="C9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6"/>
          <p:cNvSpPr txBox="1"/>
          <p:nvPr/>
        </p:nvSpPr>
        <p:spPr>
          <a:xfrm>
            <a:off x="6309360" y="4562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6"/>
          <p:cNvSpPr txBox="1"/>
          <p:nvPr/>
        </p:nvSpPr>
        <p:spPr>
          <a:xfrm>
            <a:off x="6812280" y="4517136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Alonso Moreno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6"/>
          <p:cNvSpPr txBox="1"/>
          <p:nvPr/>
        </p:nvSpPr>
        <p:spPr>
          <a:xfrm>
            <a:off x="6812280" y="4782312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5B6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8C5B6B"/>
                </a:solidFill>
                <a:latin typeface="Calibri"/>
                <a:ea typeface="Calibri"/>
                <a:cs typeface="Calibri"/>
                <a:sym typeface="Calibri"/>
              </a:rPr>
              <a:t>Documentación &amp; Python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6"/>
          <p:cNvSpPr txBox="1"/>
          <p:nvPr/>
        </p:nvSpPr>
        <p:spPr>
          <a:xfrm>
            <a:off x="6309360" y="5093208"/>
            <a:ext cx="5212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B162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B1620"/>
                </a:solidFill>
                <a:latin typeface="Calibri"/>
                <a:ea typeface="Calibri"/>
                <a:cs typeface="Calibri"/>
                <a:sym typeface="Calibri"/>
              </a:rPr>
              <a:t>Documentación técnica y académica, desarrollo de scripts/módulos en Python y apoyo transversal en Backend/Frontend.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6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5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6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PerfumeTrending ·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0E8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7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C9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7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10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 txBox="1"/>
          <p:nvPr/>
        </p:nvSpPr>
        <p:spPr>
          <a:xfrm>
            <a:off x="1207008" y="384048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Plan de Trabajo e Hitos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 txBox="1"/>
          <p:nvPr/>
        </p:nvSpPr>
        <p:spPr>
          <a:xfrm>
            <a:off x="457200" y="1207008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5B6B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8C5B6B"/>
                </a:solidFill>
                <a:latin typeface="Cambria"/>
                <a:ea typeface="Cambria"/>
                <a:cs typeface="Cambria"/>
                <a:sym typeface="Cambria"/>
              </a:rPr>
              <a:t>Cronograma general — 31 de agosto al 30 de noviembre (13 semanas)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457200" y="2011680"/>
            <a:ext cx="2540625" cy="502920"/>
          </a:xfrm>
          <a:prstGeom prst="roundRect">
            <a:avLst>
              <a:gd fmla="val 10909" name="adj"/>
            </a:avLst>
          </a:prstGeom>
          <a:solidFill>
            <a:srgbClr val="C9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7"/>
          <p:cNvSpPr txBox="1"/>
          <p:nvPr/>
        </p:nvSpPr>
        <p:spPr>
          <a:xfrm>
            <a:off x="548640" y="2039112"/>
            <a:ext cx="232116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A1F2B"/>
                </a:solidFill>
                <a:latin typeface="Calibri"/>
                <a:ea typeface="Calibri"/>
                <a:cs typeface="Calibri"/>
                <a:sym typeface="Calibri"/>
              </a:rPr>
              <a:t>FASE 1 · Definición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 txBox="1"/>
          <p:nvPr/>
        </p:nvSpPr>
        <p:spPr>
          <a:xfrm>
            <a:off x="548640" y="2267712"/>
            <a:ext cx="232116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3E4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3E48"/>
                </a:solidFill>
                <a:latin typeface="Calibri"/>
                <a:ea typeface="Calibri"/>
                <a:cs typeface="Calibri"/>
                <a:sym typeface="Calibri"/>
              </a:rPr>
              <a:t>31 Ago – 20 Sep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3107553" y="2011680"/>
            <a:ext cx="6001278" cy="502920"/>
          </a:xfrm>
          <a:prstGeom prst="roundRect">
            <a:avLst>
              <a:gd fmla="val 10909" name="adj"/>
            </a:avLst>
          </a:prstGeom>
          <a:solidFill>
            <a:srgbClr val="8C5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7"/>
          <p:cNvSpPr txBox="1"/>
          <p:nvPr/>
        </p:nvSpPr>
        <p:spPr>
          <a:xfrm>
            <a:off x="3198993" y="2039112"/>
            <a:ext cx="578182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A1F2B"/>
                </a:solidFill>
                <a:latin typeface="Calibri"/>
                <a:ea typeface="Calibri"/>
                <a:cs typeface="Calibri"/>
                <a:sym typeface="Calibri"/>
              </a:rPr>
              <a:t>FASE 2 · Desarrollo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 txBox="1"/>
          <p:nvPr/>
        </p:nvSpPr>
        <p:spPr>
          <a:xfrm>
            <a:off x="3198993" y="2267712"/>
            <a:ext cx="578182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3E4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3E48"/>
                </a:solidFill>
                <a:latin typeface="Calibri"/>
                <a:ea typeface="Calibri"/>
                <a:cs typeface="Calibri"/>
                <a:sym typeface="Calibri"/>
              </a:rPr>
              <a:t>21 Sep – 8 Nov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9218559" y="2011680"/>
            <a:ext cx="2540625" cy="502920"/>
          </a:xfrm>
          <a:prstGeom prst="roundRect">
            <a:avLst>
              <a:gd fmla="val 10909" name="adj"/>
            </a:avLst>
          </a:prstGeom>
          <a:solidFill>
            <a:srgbClr val="3A1F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7"/>
          <p:cNvSpPr txBox="1"/>
          <p:nvPr/>
        </p:nvSpPr>
        <p:spPr>
          <a:xfrm>
            <a:off x="9309999" y="2039112"/>
            <a:ext cx="232116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3 · Cierre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 txBox="1"/>
          <p:nvPr/>
        </p:nvSpPr>
        <p:spPr>
          <a:xfrm>
            <a:off x="9309999" y="2267712"/>
            <a:ext cx="232116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D9D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9D9DE"/>
                </a:solidFill>
                <a:latin typeface="Calibri"/>
                <a:ea typeface="Calibri"/>
                <a:cs typeface="Calibri"/>
                <a:sym typeface="Calibri"/>
              </a:rPr>
              <a:t>9 – 30 Nov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457200" y="2743200"/>
            <a:ext cx="3246120" cy="3200400"/>
          </a:xfrm>
          <a:prstGeom prst="roundRect">
            <a:avLst>
              <a:gd fmla="val 2286" name="adj"/>
            </a:avLst>
          </a:prstGeom>
          <a:solidFill>
            <a:srgbClr val="FFFFFF"/>
          </a:solidFill>
          <a:ln cap="flat" cmpd="sng" w="12700">
            <a:solidFill>
              <a:srgbClr val="E3D3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7"/>
          <p:cNvSpPr/>
          <p:nvPr/>
        </p:nvSpPr>
        <p:spPr>
          <a:xfrm>
            <a:off x="457200" y="2743200"/>
            <a:ext cx="3246120" cy="73152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7"/>
          <p:cNvSpPr/>
          <p:nvPr/>
        </p:nvSpPr>
        <p:spPr>
          <a:xfrm>
            <a:off x="658368" y="3044952"/>
            <a:ext cx="82296" cy="82296"/>
          </a:xfrm>
          <a:prstGeom prst="ellipse">
            <a:avLst/>
          </a:prstGeom>
          <a:solidFill>
            <a:srgbClr val="C9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7"/>
          <p:cNvSpPr txBox="1"/>
          <p:nvPr/>
        </p:nvSpPr>
        <p:spPr>
          <a:xfrm>
            <a:off x="841248" y="2935224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B162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B1620"/>
                </a:solidFill>
                <a:latin typeface="Calibri"/>
                <a:ea typeface="Calibri"/>
                <a:cs typeface="Calibri"/>
                <a:sym typeface="Calibri"/>
              </a:rPr>
              <a:t>Arquitectura y modelo de datos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658368" y="3502152"/>
            <a:ext cx="82296" cy="82296"/>
          </a:xfrm>
          <a:prstGeom prst="ellipse">
            <a:avLst/>
          </a:prstGeom>
          <a:solidFill>
            <a:srgbClr val="C9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7"/>
          <p:cNvSpPr txBox="1"/>
          <p:nvPr/>
        </p:nvSpPr>
        <p:spPr>
          <a:xfrm>
            <a:off x="841248" y="3392424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B162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B1620"/>
                </a:solidFill>
                <a:latin typeface="Calibri"/>
                <a:ea typeface="Calibri"/>
                <a:cs typeface="Calibri"/>
                <a:sym typeface="Calibri"/>
              </a:rPr>
              <a:t>Repositorio GitHub configurado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658368" y="3959352"/>
            <a:ext cx="82296" cy="82296"/>
          </a:xfrm>
          <a:prstGeom prst="ellipse">
            <a:avLst/>
          </a:prstGeom>
          <a:solidFill>
            <a:srgbClr val="C9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7"/>
          <p:cNvSpPr txBox="1"/>
          <p:nvPr/>
        </p:nvSpPr>
        <p:spPr>
          <a:xfrm>
            <a:off x="841248" y="3849624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B162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B1620"/>
                </a:solidFill>
                <a:latin typeface="Calibri"/>
                <a:ea typeface="Calibri"/>
                <a:cs typeface="Calibri"/>
                <a:sym typeface="Calibri"/>
              </a:rPr>
              <a:t>Investigación de mercado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658368" y="4416552"/>
            <a:ext cx="82296" cy="82296"/>
          </a:xfrm>
          <a:prstGeom prst="ellipse">
            <a:avLst/>
          </a:prstGeom>
          <a:solidFill>
            <a:srgbClr val="C9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7"/>
          <p:cNvSpPr txBox="1"/>
          <p:nvPr/>
        </p:nvSpPr>
        <p:spPr>
          <a:xfrm>
            <a:off x="841248" y="4306824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B162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B1620"/>
                </a:solidFill>
                <a:latin typeface="Calibri"/>
                <a:ea typeface="Calibri"/>
                <a:cs typeface="Calibri"/>
                <a:sym typeface="Calibri"/>
              </a:rPr>
              <a:t>Mockup Frontend + informe Fase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3886200" y="2743200"/>
            <a:ext cx="5760720" cy="3200400"/>
          </a:xfrm>
          <a:prstGeom prst="roundRect">
            <a:avLst>
              <a:gd fmla="val 2286" name="adj"/>
            </a:avLst>
          </a:prstGeom>
          <a:solidFill>
            <a:srgbClr val="FFFFFF"/>
          </a:solidFill>
          <a:ln cap="flat" cmpd="sng" w="12700">
            <a:solidFill>
              <a:srgbClr val="E3D3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7"/>
          <p:cNvSpPr/>
          <p:nvPr/>
        </p:nvSpPr>
        <p:spPr>
          <a:xfrm>
            <a:off x="3886200" y="2743200"/>
            <a:ext cx="5760720" cy="73152"/>
          </a:xfrm>
          <a:prstGeom prst="rect">
            <a:avLst/>
          </a:prstGeom>
          <a:solidFill>
            <a:srgbClr val="8C5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7"/>
          <p:cNvSpPr/>
          <p:nvPr/>
        </p:nvSpPr>
        <p:spPr>
          <a:xfrm>
            <a:off x="4087368" y="3044952"/>
            <a:ext cx="82296" cy="82296"/>
          </a:xfrm>
          <a:prstGeom prst="ellipse">
            <a:avLst/>
          </a:prstGeom>
          <a:solidFill>
            <a:srgbClr val="8C5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7"/>
          <p:cNvSpPr txBox="1"/>
          <p:nvPr/>
        </p:nvSpPr>
        <p:spPr>
          <a:xfrm>
            <a:off x="4270248" y="2935224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B162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B1620"/>
                </a:solidFill>
                <a:latin typeface="Calibri"/>
                <a:ea typeface="Calibri"/>
                <a:cs typeface="Calibri"/>
                <a:sym typeface="Calibri"/>
              </a:rPr>
              <a:t>Motor de Web Scraping (Diego)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4087368" y="3502152"/>
            <a:ext cx="82296" cy="82296"/>
          </a:xfrm>
          <a:prstGeom prst="ellipse">
            <a:avLst/>
          </a:prstGeom>
          <a:solidFill>
            <a:srgbClr val="8C5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7"/>
          <p:cNvSpPr txBox="1"/>
          <p:nvPr/>
        </p:nvSpPr>
        <p:spPr>
          <a:xfrm>
            <a:off x="4270248" y="3392424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B162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B1620"/>
                </a:solidFill>
                <a:latin typeface="Calibri"/>
                <a:ea typeface="Calibri"/>
                <a:cs typeface="Calibri"/>
                <a:sym typeface="Calibri"/>
              </a:rPr>
              <a:t>Base de datos y APIs RESTful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7"/>
          <p:cNvSpPr/>
          <p:nvPr/>
        </p:nvSpPr>
        <p:spPr>
          <a:xfrm>
            <a:off x="4087368" y="3959352"/>
            <a:ext cx="82296" cy="82296"/>
          </a:xfrm>
          <a:prstGeom prst="ellipse">
            <a:avLst/>
          </a:prstGeom>
          <a:solidFill>
            <a:srgbClr val="8C5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7"/>
          <p:cNvSpPr txBox="1"/>
          <p:nvPr/>
        </p:nvSpPr>
        <p:spPr>
          <a:xfrm>
            <a:off x="4270248" y="3849624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B162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B1620"/>
                </a:solidFill>
                <a:latin typeface="Calibri"/>
                <a:ea typeface="Calibri"/>
                <a:cs typeface="Calibri"/>
                <a:sym typeface="Calibri"/>
              </a:rPr>
              <a:t>Módulo Trust Score (Alonso)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7"/>
          <p:cNvSpPr/>
          <p:nvPr/>
        </p:nvSpPr>
        <p:spPr>
          <a:xfrm>
            <a:off x="4087368" y="4416552"/>
            <a:ext cx="82296" cy="82296"/>
          </a:xfrm>
          <a:prstGeom prst="ellipse">
            <a:avLst/>
          </a:prstGeom>
          <a:solidFill>
            <a:srgbClr val="8C5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7"/>
          <p:cNvSpPr txBox="1"/>
          <p:nvPr/>
        </p:nvSpPr>
        <p:spPr>
          <a:xfrm>
            <a:off x="4270248" y="4306824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B162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B1620"/>
                </a:solidFill>
                <a:latin typeface="Calibri"/>
                <a:ea typeface="Calibri"/>
                <a:cs typeface="Calibri"/>
                <a:sym typeface="Calibri"/>
              </a:rPr>
              <a:t>IA Hype Radar (Alonso / Diego)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7"/>
          <p:cNvSpPr/>
          <p:nvPr/>
        </p:nvSpPr>
        <p:spPr>
          <a:xfrm>
            <a:off x="4087368" y="4873752"/>
            <a:ext cx="82296" cy="82296"/>
          </a:xfrm>
          <a:prstGeom prst="ellipse">
            <a:avLst/>
          </a:prstGeom>
          <a:solidFill>
            <a:srgbClr val="8C5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7"/>
          <p:cNvSpPr txBox="1"/>
          <p:nvPr/>
        </p:nvSpPr>
        <p:spPr>
          <a:xfrm>
            <a:off x="4270248" y="4764024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B162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B1620"/>
                </a:solidFill>
                <a:latin typeface="Calibri"/>
                <a:ea typeface="Calibri"/>
                <a:cs typeface="Calibri"/>
                <a:sym typeface="Calibri"/>
              </a:rPr>
              <a:t>Integración Frontend-Backend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7"/>
          <p:cNvSpPr/>
          <p:nvPr/>
        </p:nvSpPr>
        <p:spPr>
          <a:xfrm>
            <a:off x="4087368" y="5330952"/>
            <a:ext cx="82296" cy="82296"/>
          </a:xfrm>
          <a:prstGeom prst="ellipse">
            <a:avLst/>
          </a:prstGeom>
          <a:solidFill>
            <a:srgbClr val="8C5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7"/>
          <p:cNvSpPr txBox="1"/>
          <p:nvPr/>
        </p:nvSpPr>
        <p:spPr>
          <a:xfrm>
            <a:off x="4270248" y="5221224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B162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B1620"/>
                </a:solidFill>
                <a:latin typeface="Calibri"/>
                <a:ea typeface="Calibri"/>
                <a:cs typeface="Calibri"/>
                <a:sym typeface="Calibri"/>
              </a:rPr>
              <a:t>Informe de avance Fase 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7"/>
          <p:cNvSpPr/>
          <p:nvPr/>
        </p:nvSpPr>
        <p:spPr>
          <a:xfrm>
            <a:off x="9829800" y="2743200"/>
            <a:ext cx="1874520" cy="320040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12700">
            <a:solidFill>
              <a:srgbClr val="E3D3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7"/>
          <p:cNvSpPr/>
          <p:nvPr/>
        </p:nvSpPr>
        <p:spPr>
          <a:xfrm>
            <a:off x="9829800" y="2743200"/>
            <a:ext cx="1874520" cy="73152"/>
          </a:xfrm>
          <a:prstGeom prst="rect">
            <a:avLst/>
          </a:prstGeom>
          <a:solidFill>
            <a:srgbClr val="3A1F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7"/>
          <p:cNvSpPr/>
          <p:nvPr/>
        </p:nvSpPr>
        <p:spPr>
          <a:xfrm>
            <a:off x="10030968" y="3044952"/>
            <a:ext cx="82296" cy="82296"/>
          </a:xfrm>
          <a:prstGeom prst="ellipse">
            <a:avLst/>
          </a:prstGeom>
          <a:solidFill>
            <a:srgbClr val="3A1F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7"/>
          <p:cNvSpPr txBox="1"/>
          <p:nvPr/>
        </p:nvSpPr>
        <p:spPr>
          <a:xfrm>
            <a:off x="10213848" y="2935224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B162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B1620"/>
                </a:solidFill>
                <a:latin typeface="Calibri"/>
                <a:ea typeface="Calibri"/>
                <a:cs typeface="Calibri"/>
                <a:sym typeface="Calibri"/>
              </a:rPr>
              <a:t>Pruebas de calidad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7"/>
          <p:cNvSpPr/>
          <p:nvPr/>
        </p:nvSpPr>
        <p:spPr>
          <a:xfrm>
            <a:off x="10030968" y="3502152"/>
            <a:ext cx="82296" cy="82296"/>
          </a:xfrm>
          <a:prstGeom prst="ellipse">
            <a:avLst/>
          </a:prstGeom>
          <a:solidFill>
            <a:srgbClr val="3A1F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7"/>
          <p:cNvSpPr txBox="1"/>
          <p:nvPr/>
        </p:nvSpPr>
        <p:spPr>
          <a:xfrm>
            <a:off x="10213848" y="3392424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B162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B1620"/>
                </a:solidFill>
                <a:latin typeface="Calibri"/>
                <a:ea typeface="Calibri"/>
                <a:cs typeface="Calibri"/>
                <a:sym typeface="Calibri"/>
              </a:rPr>
              <a:t>CI/CD y despliegue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7"/>
          <p:cNvSpPr/>
          <p:nvPr/>
        </p:nvSpPr>
        <p:spPr>
          <a:xfrm>
            <a:off x="10030968" y="3959352"/>
            <a:ext cx="82296" cy="82296"/>
          </a:xfrm>
          <a:prstGeom prst="ellipse">
            <a:avLst/>
          </a:prstGeom>
          <a:solidFill>
            <a:srgbClr val="3A1F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7"/>
          <p:cNvSpPr txBox="1"/>
          <p:nvPr/>
        </p:nvSpPr>
        <p:spPr>
          <a:xfrm>
            <a:off x="10213848" y="3849624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B162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B1620"/>
                </a:solidFill>
                <a:latin typeface="Calibri"/>
                <a:ea typeface="Calibri"/>
                <a:cs typeface="Calibri"/>
                <a:sym typeface="Calibri"/>
              </a:rPr>
              <a:t>Documentación definitiva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7"/>
          <p:cNvSpPr/>
          <p:nvPr/>
        </p:nvSpPr>
        <p:spPr>
          <a:xfrm>
            <a:off x="10030968" y="4416552"/>
            <a:ext cx="82296" cy="82296"/>
          </a:xfrm>
          <a:prstGeom prst="ellipse">
            <a:avLst/>
          </a:prstGeom>
          <a:solidFill>
            <a:srgbClr val="3A1F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7"/>
          <p:cNvSpPr txBox="1"/>
          <p:nvPr/>
        </p:nvSpPr>
        <p:spPr>
          <a:xfrm>
            <a:off x="10213848" y="4306824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B162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B1620"/>
                </a:solidFill>
                <a:latin typeface="Calibri"/>
                <a:ea typeface="Calibri"/>
                <a:cs typeface="Calibri"/>
                <a:sym typeface="Calibri"/>
              </a:rPr>
              <a:t>Presentación final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7"/>
          <p:cNvSpPr txBox="1"/>
          <p:nvPr/>
        </p:nvSpPr>
        <p:spPr>
          <a:xfrm>
            <a:off x="457200" y="6053328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Cronograma detallado (Carta Gantt semanal por actividad, recursos y responsables) disponible en el documento del Proyecto APT.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7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6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7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PerfumeTrending ·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0E8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fa07591c53_0_90"/>
          <p:cNvSpPr/>
          <p:nvPr/>
        </p:nvSpPr>
        <p:spPr>
          <a:xfrm>
            <a:off x="457200" y="411480"/>
            <a:ext cx="567000" cy="567000"/>
          </a:xfrm>
          <a:prstGeom prst="ellipse">
            <a:avLst/>
          </a:prstGeom>
          <a:solidFill>
            <a:srgbClr val="C9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fa07591c53_0_90"/>
          <p:cNvSpPr txBox="1"/>
          <p:nvPr/>
        </p:nvSpPr>
        <p:spPr>
          <a:xfrm>
            <a:off x="457200" y="41148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10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3fa07591c53_0_90"/>
          <p:cNvSpPr txBox="1"/>
          <p:nvPr/>
        </p:nvSpPr>
        <p:spPr>
          <a:xfrm>
            <a:off x="1207008" y="384048"/>
            <a:ext cx="10332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Ruta Critica 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fa07591c53_0_90"/>
          <p:cNvSpPr txBox="1"/>
          <p:nvPr/>
        </p:nvSpPr>
        <p:spPr>
          <a:xfrm>
            <a:off x="10085832" y="647395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6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3fa07591c53_0_90"/>
          <p:cNvSpPr txBox="1"/>
          <p:nvPr/>
        </p:nvSpPr>
        <p:spPr>
          <a:xfrm>
            <a:off x="457200" y="6473952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PerfumeTrending ·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2" name="Google Shape;342;g3fa07591c53_0_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6650"/>
            <a:ext cx="11887201" cy="474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0E8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fa07591c53_0_149"/>
          <p:cNvSpPr/>
          <p:nvPr/>
        </p:nvSpPr>
        <p:spPr>
          <a:xfrm>
            <a:off x="457200" y="411480"/>
            <a:ext cx="567000" cy="567000"/>
          </a:xfrm>
          <a:prstGeom prst="ellipse">
            <a:avLst/>
          </a:prstGeom>
          <a:solidFill>
            <a:srgbClr val="C9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fa07591c53_0_149"/>
          <p:cNvSpPr txBox="1"/>
          <p:nvPr/>
        </p:nvSpPr>
        <p:spPr>
          <a:xfrm>
            <a:off x="457200" y="41148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10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fa07591c53_0_149"/>
          <p:cNvSpPr txBox="1"/>
          <p:nvPr/>
        </p:nvSpPr>
        <p:spPr>
          <a:xfrm>
            <a:off x="1207008" y="384048"/>
            <a:ext cx="10332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Carta Gantt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3fa07591c53_0_149"/>
          <p:cNvSpPr txBox="1"/>
          <p:nvPr/>
        </p:nvSpPr>
        <p:spPr>
          <a:xfrm>
            <a:off x="10085832" y="647395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6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3fa07591c53_0_149"/>
          <p:cNvSpPr txBox="1"/>
          <p:nvPr/>
        </p:nvSpPr>
        <p:spPr>
          <a:xfrm>
            <a:off x="457200" y="6473952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PerfumeTrending ·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3" name="Google Shape;353;g3fa07591c53_0_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1000" y="1024250"/>
            <a:ext cx="7670001" cy="5697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0E8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8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C9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8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11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8"/>
          <p:cNvSpPr txBox="1"/>
          <p:nvPr/>
        </p:nvSpPr>
        <p:spPr>
          <a:xfrm>
            <a:off x="1207008" y="384048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Evidencias del Proyecto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8"/>
          <p:cNvSpPr txBox="1"/>
          <p:nvPr/>
        </p:nvSpPr>
        <p:spPr>
          <a:xfrm>
            <a:off x="457200" y="1207008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Entregables técnicos que visibilizan el cumplimiento de las metas en cada fase.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457200" y="1737360"/>
            <a:ext cx="3685032" cy="4069080"/>
          </a:xfrm>
          <a:prstGeom prst="roundRect">
            <a:avLst>
              <a:gd fmla="val 2481" name="adj"/>
            </a:avLst>
          </a:prstGeom>
          <a:solidFill>
            <a:srgbClr val="FFFFFF"/>
          </a:solidFill>
          <a:ln cap="flat" cmpd="sng" w="12700">
            <a:solidFill>
              <a:srgbClr val="E3D3D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3A1F2B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8"/>
          <p:cNvSpPr/>
          <p:nvPr/>
        </p:nvSpPr>
        <p:spPr>
          <a:xfrm>
            <a:off x="685800" y="1965960"/>
            <a:ext cx="502920" cy="502920"/>
          </a:xfrm>
          <a:prstGeom prst="ellipse">
            <a:avLst/>
          </a:prstGeom>
          <a:solidFill>
            <a:srgbClr val="3A1F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8"/>
          <p:cNvSpPr txBox="1"/>
          <p:nvPr/>
        </p:nvSpPr>
        <p:spPr>
          <a:xfrm>
            <a:off x="685800" y="19659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4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C9A24B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8"/>
          <p:cNvSpPr txBox="1"/>
          <p:nvPr/>
        </p:nvSpPr>
        <p:spPr>
          <a:xfrm>
            <a:off x="685800" y="2606040"/>
            <a:ext cx="322783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Repositorio Base y Arquitectura Inicial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8"/>
          <p:cNvSpPr txBox="1"/>
          <p:nvPr/>
        </p:nvSpPr>
        <p:spPr>
          <a:xfrm>
            <a:off x="685800" y="3246120"/>
            <a:ext cx="32278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QUÉ INCLUYE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8"/>
          <p:cNvSpPr txBox="1"/>
          <p:nvPr/>
        </p:nvSpPr>
        <p:spPr>
          <a:xfrm>
            <a:off x="685800" y="3456432"/>
            <a:ext cx="322783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162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B1620"/>
                </a:solidFill>
                <a:latin typeface="Calibri"/>
                <a:ea typeface="Calibri"/>
                <a:cs typeface="Calibri"/>
                <a:sym typeface="Calibri"/>
              </a:rPr>
              <a:t>Repositorio público en GitHub con README, diagramas de arquitectura, maquetación base del Frontend y definición formal de roles.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9" name="Google Shape;369;p8"/>
          <p:cNvCxnSpPr/>
          <p:nvPr/>
        </p:nvCxnSpPr>
        <p:spPr>
          <a:xfrm>
            <a:off x="685800" y="4709160"/>
            <a:ext cx="3227832" cy="0"/>
          </a:xfrm>
          <a:prstGeom prst="straightConnector1">
            <a:avLst/>
          </a:prstGeom>
          <a:noFill/>
          <a:ln cap="flat" cmpd="sng" w="9525">
            <a:solidFill>
              <a:srgbClr val="E3D3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0" name="Google Shape;370;p8"/>
          <p:cNvSpPr txBox="1"/>
          <p:nvPr/>
        </p:nvSpPr>
        <p:spPr>
          <a:xfrm>
            <a:off x="685800" y="4818888"/>
            <a:ext cx="32278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JUSTIFICACIÓN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8"/>
          <p:cNvSpPr txBox="1"/>
          <p:nvPr/>
        </p:nvSpPr>
        <p:spPr>
          <a:xfrm>
            <a:off x="685800" y="5029200"/>
            <a:ext cx="32278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5B6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C5B6B"/>
                </a:solidFill>
                <a:latin typeface="Calibri"/>
                <a:ea typeface="Calibri"/>
                <a:cs typeface="Calibri"/>
                <a:sym typeface="Calibri"/>
              </a:rPr>
              <a:t>Valida la estructura inicial, las bases técnicas acordadas y el compromiso individual en un entorno transparente.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8"/>
          <p:cNvSpPr/>
          <p:nvPr/>
        </p:nvSpPr>
        <p:spPr>
          <a:xfrm>
            <a:off x="4233672" y="1737360"/>
            <a:ext cx="3685032" cy="4069080"/>
          </a:xfrm>
          <a:prstGeom prst="roundRect">
            <a:avLst>
              <a:gd fmla="val 2481" name="adj"/>
            </a:avLst>
          </a:prstGeom>
          <a:solidFill>
            <a:srgbClr val="FFFFFF"/>
          </a:solidFill>
          <a:ln cap="flat" cmpd="sng" w="12700">
            <a:solidFill>
              <a:srgbClr val="E3D3D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3A1F2B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8"/>
          <p:cNvSpPr/>
          <p:nvPr/>
        </p:nvSpPr>
        <p:spPr>
          <a:xfrm>
            <a:off x="4462272" y="1965960"/>
            <a:ext cx="502920" cy="502920"/>
          </a:xfrm>
          <a:prstGeom prst="ellipse">
            <a:avLst/>
          </a:prstGeom>
          <a:solidFill>
            <a:srgbClr val="3A1F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8"/>
          <p:cNvSpPr txBox="1"/>
          <p:nvPr/>
        </p:nvSpPr>
        <p:spPr>
          <a:xfrm>
            <a:off x="4462272" y="19659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4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C9A24B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8"/>
          <p:cNvSpPr txBox="1"/>
          <p:nvPr/>
        </p:nvSpPr>
        <p:spPr>
          <a:xfrm>
            <a:off x="4462272" y="2606040"/>
            <a:ext cx="322783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Módulos Funcionales y Trazabilidad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8"/>
          <p:cNvSpPr txBox="1"/>
          <p:nvPr/>
        </p:nvSpPr>
        <p:spPr>
          <a:xfrm>
            <a:off x="4462272" y="3246120"/>
            <a:ext cx="32278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QUÉ INCLUYE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8"/>
          <p:cNvSpPr txBox="1"/>
          <p:nvPr/>
        </p:nvSpPr>
        <p:spPr>
          <a:xfrm>
            <a:off x="4462272" y="3456432"/>
            <a:ext cx="322783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162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B1620"/>
                </a:solidFill>
                <a:latin typeface="Calibri"/>
                <a:ea typeface="Calibri"/>
                <a:cs typeface="Calibri"/>
                <a:sym typeface="Calibri"/>
              </a:rPr>
              <a:t>Registro de commits, ramas y Pull Requests individuales que demuestran el progreso de Frontend, Scraping/BD y Documentación.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8" name="Google Shape;378;p8"/>
          <p:cNvCxnSpPr/>
          <p:nvPr/>
        </p:nvCxnSpPr>
        <p:spPr>
          <a:xfrm>
            <a:off x="4462272" y="4709160"/>
            <a:ext cx="3227832" cy="0"/>
          </a:xfrm>
          <a:prstGeom prst="straightConnector1">
            <a:avLst/>
          </a:prstGeom>
          <a:noFill/>
          <a:ln cap="flat" cmpd="sng" w="9525">
            <a:solidFill>
              <a:srgbClr val="E3D3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9" name="Google Shape;379;p8"/>
          <p:cNvSpPr txBox="1"/>
          <p:nvPr/>
        </p:nvSpPr>
        <p:spPr>
          <a:xfrm>
            <a:off x="4462272" y="4818888"/>
            <a:ext cx="32278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JUSTIFICACIÓN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8"/>
          <p:cNvSpPr txBox="1"/>
          <p:nvPr/>
        </p:nvSpPr>
        <p:spPr>
          <a:xfrm>
            <a:off x="4462272" y="5029200"/>
            <a:ext cx="32278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5B6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C5B6B"/>
                </a:solidFill>
                <a:latin typeface="Calibri"/>
                <a:ea typeface="Calibri"/>
                <a:cs typeface="Calibri"/>
                <a:sym typeface="Calibri"/>
              </a:rPr>
              <a:t>Garantiza la trazabilidad del trabajo individual y la integración progresiva de las partes del software.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8"/>
          <p:cNvSpPr/>
          <p:nvPr/>
        </p:nvSpPr>
        <p:spPr>
          <a:xfrm>
            <a:off x="8010144" y="1737360"/>
            <a:ext cx="3685032" cy="4069080"/>
          </a:xfrm>
          <a:prstGeom prst="roundRect">
            <a:avLst>
              <a:gd fmla="val 2481" name="adj"/>
            </a:avLst>
          </a:prstGeom>
          <a:solidFill>
            <a:srgbClr val="FFFFFF"/>
          </a:solidFill>
          <a:ln cap="flat" cmpd="sng" w="12700">
            <a:solidFill>
              <a:srgbClr val="E3D3D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3A1F2B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8"/>
          <p:cNvSpPr/>
          <p:nvPr/>
        </p:nvSpPr>
        <p:spPr>
          <a:xfrm>
            <a:off x="8238744" y="1965960"/>
            <a:ext cx="502920" cy="502920"/>
          </a:xfrm>
          <a:prstGeom prst="ellipse">
            <a:avLst/>
          </a:prstGeom>
          <a:solidFill>
            <a:srgbClr val="3A1F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8"/>
          <p:cNvSpPr txBox="1"/>
          <p:nvPr/>
        </p:nvSpPr>
        <p:spPr>
          <a:xfrm>
            <a:off x="8238744" y="19659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4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C9A24B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8"/>
          <p:cNvSpPr txBox="1"/>
          <p:nvPr/>
        </p:nvSpPr>
        <p:spPr>
          <a:xfrm>
            <a:off x="8238744" y="2606040"/>
            <a:ext cx="322783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Producto Integrado y Documentación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8"/>
          <p:cNvSpPr txBox="1"/>
          <p:nvPr/>
        </p:nvSpPr>
        <p:spPr>
          <a:xfrm>
            <a:off x="8238744" y="3246120"/>
            <a:ext cx="32278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QUÉ INCLUYE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8"/>
          <p:cNvSpPr txBox="1"/>
          <p:nvPr/>
        </p:nvSpPr>
        <p:spPr>
          <a:xfrm>
            <a:off x="8238744" y="3456432"/>
            <a:ext cx="322783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162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B1620"/>
                </a:solidFill>
                <a:latin typeface="Calibri"/>
                <a:ea typeface="Calibri"/>
                <a:cs typeface="Calibri"/>
                <a:sym typeface="Calibri"/>
              </a:rPr>
              <a:t>Repositorio consolidado con la aplicación completamente funcional (Streamlit + Backend + BD), manuales y presentación final.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7" name="Google Shape;387;p8"/>
          <p:cNvCxnSpPr/>
          <p:nvPr/>
        </p:nvCxnSpPr>
        <p:spPr>
          <a:xfrm>
            <a:off x="8238744" y="4709160"/>
            <a:ext cx="3227832" cy="0"/>
          </a:xfrm>
          <a:prstGeom prst="straightConnector1">
            <a:avLst/>
          </a:prstGeom>
          <a:noFill/>
          <a:ln cap="flat" cmpd="sng" w="9525">
            <a:solidFill>
              <a:srgbClr val="E3D3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8" name="Google Shape;388;p8"/>
          <p:cNvSpPr txBox="1"/>
          <p:nvPr/>
        </p:nvSpPr>
        <p:spPr>
          <a:xfrm>
            <a:off x="8238744" y="4818888"/>
            <a:ext cx="32278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JUSTIFICACIÓN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8"/>
          <p:cNvSpPr txBox="1"/>
          <p:nvPr/>
        </p:nvSpPr>
        <p:spPr>
          <a:xfrm>
            <a:off x="8238744" y="5029200"/>
            <a:ext cx="32278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5B6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C5B6B"/>
                </a:solidFill>
                <a:latin typeface="Calibri"/>
                <a:ea typeface="Calibri"/>
                <a:cs typeface="Calibri"/>
                <a:sym typeface="Calibri"/>
              </a:rPr>
              <a:t>Evidencia la consecución del objetivo general y la entrega de una solución informática madura y funcional.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8"/>
          <p:cNvSpPr txBox="1"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7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8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PerfumeTrending ·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0E8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fa07591c53_0_31"/>
          <p:cNvSpPr/>
          <p:nvPr/>
        </p:nvSpPr>
        <p:spPr>
          <a:xfrm>
            <a:off x="457200" y="411480"/>
            <a:ext cx="567000" cy="567000"/>
          </a:xfrm>
          <a:prstGeom prst="ellipse">
            <a:avLst/>
          </a:prstGeom>
          <a:solidFill>
            <a:srgbClr val="C9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g3fa07591c53_0_31"/>
          <p:cNvSpPr txBox="1"/>
          <p:nvPr/>
        </p:nvSpPr>
        <p:spPr>
          <a:xfrm>
            <a:off x="457200" y="41148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11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g3fa07591c53_0_31"/>
          <p:cNvSpPr txBox="1"/>
          <p:nvPr/>
        </p:nvSpPr>
        <p:spPr>
          <a:xfrm>
            <a:off x="1207008" y="384048"/>
            <a:ext cx="10332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Evidencias del Proyecto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g3fa07591c53_0_31"/>
          <p:cNvSpPr txBox="1"/>
          <p:nvPr/>
        </p:nvSpPr>
        <p:spPr>
          <a:xfrm>
            <a:off x="10085832" y="647395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7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1" name="Google Shape;401;g3fa07591c53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4200" y="1262525"/>
            <a:ext cx="10091498" cy="4643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0E8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fa07591c53_0_69"/>
          <p:cNvSpPr/>
          <p:nvPr/>
        </p:nvSpPr>
        <p:spPr>
          <a:xfrm>
            <a:off x="457200" y="411480"/>
            <a:ext cx="567000" cy="567000"/>
          </a:xfrm>
          <a:prstGeom prst="ellipse">
            <a:avLst/>
          </a:prstGeom>
          <a:solidFill>
            <a:srgbClr val="C9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3fa07591c53_0_69"/>
          <p:cNvSpPr txBox="1"/>
          <p:nvPr/>
        </p:nvSpPr>
        <p:spPr>
          <a:xfrm>
            <a:off x="457200" y="41148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11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g3fa07591c53_0_69"/>
          <p:cNvSpPr txBox="1"/>
          <p:nvPr/>
        </p:nvSpPr>
        <p:spPr>
          <a:xfrm>
            <a:off x="1207008" y="384048"/>
            <a:ext cx="10332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Evidencias del Proyecto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g3fa07591c53_0_69"/>
          <p:cNvSpPr txBox="1"/>
          <p:nvPr/>
        </p:nvSpPr>
        <p:spPr>
          <a:xfrm>
            <a:off x="10085832" y="647395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7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1" name="Google Shape;411;g3fa07591c53_0_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850" y="1024248"/>
            <a:ext cx="6205454" cy="5528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g3fa07591c53_0_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1150" y="746175"/>
            <a:ext cx="4947647" cy="552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0E8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fa07591c53_0_78"/>
          <p:cNvSpPr/>
          <p:nvPr/>
        </p:nvSpPr>
        <p:spPr>
          <a:xfrm>
            <a:off x="457200" y="411480"/>
            <a:ext cx="567000" cy="567000"/>
          </a:xfrm>
          <a:prstGeom prst="ellipse">
            <a:avLst/>
          </a:prstGeom>
          <a:solidFill>
            <a:srgbClr val="C9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3fa07591c53_0_78"/>
          <p:cNvSpPr txBox="1"/>
          <p:nvPr/>
        </p:nvSpPr>
        <p:spPr>
          <a:xfrm>
            <a:off x="457200" y="41148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11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g3fa07591c53_0_78"/>
          <p:cNvSpPr txBox="1"/>
          <p:nvPr/>
        </p:nvSpPr>
        <p:spPr>
          <a:xfrm>
            <a:off x="1207008" y="384048"/>
            <a:ext cx="10332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1F2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3A1F2B"/>
                </a:solidFill>
                <a:latin typeface="Cambria"/>
                <a:ea typeface="Cambria"/>
                <a:cs typeface="Cambria"/>
                <a:sym typeface="Cambria"/>
              </a:rPr>
              <a:t>Evidencias del Proyecto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g3fa07591c53_0_78"/>
          <p:cNvSpPr txBox="1"/>
          <p:nvPr/>
        </p:nvSpPr>
        <p:spPr>
          <a:xfrm>
            <a:off x="10085832" y="6473952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5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5560"/>
                </a:solidFill>
                <a:latin typeface="Calibri"/>
                <a:ea typeface="Calibri"/>
                <a:cs typeface="Calibri"/>
                <a:sym typeface="Calibri"/>
              </a:rPr>
              <a:t>7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2" name="Google Shape;422;g3fa07591c53_0_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700" y="1098398"/>
            <a:ext cx="6535717" cy="5528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g3fa07591c53_0_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6817" y="1176648"/>
            <a:ext cx="5032784" cy="46621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A1F2B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9"/>
          <p:cNvSpPr/>
          <p:nvPr/>
        </p:nvSpPr>
        <p:spPr>
          <a:xfrm>
            <a:off x="9921240" y="-822960"/>
            <a:ext cx="2926080" cy="2926080"/>
          </a:xfrm>
          <a:prstGeom prst="ellipse">
            <a:avLst/>
          </a:prstGeom>
          <a:solidFill>
            <a:srgbClr val="2A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9"/>
          <p:cNvSpPr/>
          <p:nvPr/>
        </p:nvSpPr>
        <p:spPr>
          <a:xfrm>
            <a:off x="-1005840" y="4846320"/>
            <a:ext cx="2743200" cy="2743200"/>
          </a:xfrm>
          <a:prstGeom prst="ellipse">
            <a:avLst/>
          </a:prstGeom>
          <a:solidFill>
            <a:srgbClr val="2A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9"/>
          <p:cNvSpPr/>
          <p:nvPr/>
        </p:nvSpPr>
        <p:spPr>
          <a:xfrm>
            <a:off x="502920" y="822960"/>
            <a:ext cx="146304" cy="146304"/>
          </a:xfrm>
          <a:prstGeom prst="ellipse">
            <a:avLst/>
          </a:prstGeom>
          <a:solidFill>
            <a:srgbClr val="C9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9"/>
          <p:cNvSpPr/>
          <p:nvPr/>
        </p:nvSpPr>
        <p:spPr>
          <a:xfrm>
            <a:off x="822960" y="1143000"/>
            <a:ext cx="91440" cy="91440"/>
          </a:xfrm>
          <a:prstGeom prst="ellipse">
            <a:avLst/>
          </a:prstGeom>
          <a:solidFill>
            <a:srgbClr val="C9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9"/>
          <p:cNvSpPr txBox="1"/>
          <p:nvPr/>
        </p:nvSpPr>
        <p:spPr>
          <a:xfrm>
            <a:off x="0" y="2286000"/>
            <a:ext cx="1218895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Gracias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9"/>
          <p:cNvSpPr txBox="1"/>
          <p:nvPr/>
        </p:nvSpPr>
        <p:spPr>
          <a:xfrm>
            <a:off x="0" y="3246120"/>
            <a:ext cx="121889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4B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C9A24B"/>
                </a:solidFill>
                <a:latin typeface="Calibri"/>
                <a:ea typeface="Calibri"/>
                <a:cs typeface="Calibri"/>
                <a:sym typeface="Calibri"/>
              </a:rPr>
              <a:t>PerfumeTrending — comprar perfume en Chile, de forma inteligente y segura.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9"/>
          <p:cNvSpPr txBox="1"/>
          <p:nvPr/>
        </p:nvSpPr>
        <p:spPr>
          <a:xfrm>
            <a:off x="0" y="4206240"/>
            <a:ext cx="12188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D9D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9D9DE"/>
                </a:solidFill>
                <a:latin typeface="Calibri"/>
                <a:ea typeface="Calibri"/>
                <a:cs typeface="Calibri"/>
                <a:sym typeface="Calibri"/>
              </a:rPr>
              <a:t>Benjamín Espinoza  ·  Diego Medina  ·  Alonso Moreno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9"/>
          <p:cNvSpPr txBox="1"/>
          <p:nvPr/>
        </p:nvSpPr>
        <p:spPr>
          <a:xfrm>
            <a:off x="0" y="4846320"/>
            <a:ext cx="12188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9A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79AA4"/>
                </a:solidFill>
                <a:latin typeface="Calibri"/>
                <a:ea typeface="Calibri"/>
                <a:cs typeface="Calibri"/>
                <a:sym typeface="Calibri"/>
              </a:rPr>
              <a:t>¿Preguntas?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2026-09-01T19:25:52Z</dcterms:created>
  <dc:creator>PptxGenJS</dc:creator>
</cp:coreProperties>
</file>
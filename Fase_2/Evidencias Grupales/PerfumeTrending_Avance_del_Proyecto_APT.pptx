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7"/>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avance de la Fase 2: qué es el proyecto, evidencias de frontend, backend y base de datos, los diagramas principales y el manual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tiene tres pilares: comparar precios, un puntaje de confianza por tienda y un radar de tendencias. Las cifras salen de los documentos: 19 requisitos funcionales y 12 no funcionales en el SRS, 13 diagramas en el diseño y 28 capturas en el documento de evidencias.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en capas basada en el Documento de Diseño: el usuario entra por el navegador, Streamlit muestra la interfaz y el backend en Python hace el scraping, normaliza y calcula los puntajes. Los datos se guardan en SQLite, que es la base que usa hoy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Pantalla principal hecha en Streamlit por Benjamín. Muestra el buscador, los accesos a Trend Del Hype, Páginas de Confianza y Comparar Precios, y las tarjetas de perfumes. El usuario puede cambiar entre tema claro y 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pantallas que muestran el valor del proyecto: el Hype Radar, las Páginas de Confianza con el Trust Score por tienda y el comparador de precios. Ejemplos visibles: Falabella 96/100 y París 95/100 como tiendas verificadas, y un vendedor no auditado con 38/100 marcado como alto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en Python hecho por Diego. La capa de datos (database.py) maneja SQLite; el normalizador descarta productos que no son perfumes y precios sin sentido; hay dos scrapers, uno bajo demanda y otro periódico con reintentos y User-Agents rotativos.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de datos es SQLite, guardada en un archivo, así que no hace falta instalar un servidor. El esquema está en schema.sql y los datos iniciales en seed_catalogo.json, que incluye las tiendas auditadas con su Trust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entidad-relación del Documento de Diseño. Es el modelo conceptual: soporta el comparador de precios, el Trust Score, el Hype Radar y las preferencias del usuario (favoritos y alertas).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del Manual Técnico y de Uso. No hace falta instalar un servidor de base de datos. La variable más importante es la clave de la API de YouTube, que usa el Hype Radar. Docker se usa solo en desarrollo y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tres tareas pendientes: el Plan de Pruebas, corregir el error visual del comparador y alinear el diseño con la base SQLite que se usa hoy. Sirve también para abrir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hicimos ningún cambio en la Carta Gantt: se mantienen los tiempos de cada actividad y las 13 semanas planificadas. Hoy estamos en la semana 10 y quedan las semanas 11 a 13 para pruebas, despliegue, manuales y la presentación final.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614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F5F0E8"/>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F5F0E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614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58800"/>
          </a:xfrm>
          <a:prstGeom prst="rect">
            <a:avLst/>
          </a:prstGeom>
          <a:noFill/>
          <a:ln/>
        </p:spPr>
        <p:txBody>
          <a:bodyPr wrap="square" lIns="0" tIns="0" rIns="0" bIns="0" rtlCol="0" anchor="t"/>
          <a:lstStyle>
            <a:lvl1pPr algn="l" indent="0" marL="0">
              <a:lnSpc>
                <a:spcPct val="115000"/>
              </a:lnSpc>
              <a:buNone/>
              <a:defRPr lang="en-US" sz="4000" dirty="0">
                <a:solidFill>
                  <a:srgbClr val="F5F0E8"/>
                </a:solidFill>
                <a:latin typeface="Cormorant Garamond" pitchFamily="34" charset="0"/>
                <a:ea typeface="Cormorant Garamond" pitchFamily="34" charset="-122"/>
                <a:cs typeface="Cormorant Garamond"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800" y="1676400"/>
            <a:ext cx="10566400" cy="4368800"/>
          </a:xfrm>
          <a:prstGeom prst="rect">
            <a:avLst/>
          </a:prstGeom>
          <a:noFill/>
          <a:ln/>
        </p:spPr>
        <p:txBody>
          <a:bodyPr wrap="square" lIns="0" tIns="0" rIns="0" bIns="0" rtlCol="0" anchor="t"/>
          <a:lstStyle>
            <a:lvl1pPr algn="l" indent="0" marL="0">
              <a:lnSpc>
                <a:spcPct val="140000"/>
              </a:lnSpc>
              <a:buNone/>
              <a:defRPr lang="en-US" sz="1600" dirty="0">
                <a:solidFill>
                  <a:srgbClr val="F5F0E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41C"/>
        </a:solidFill>
      </p:bgPr>
    </p:bg>
    <p:spTree>
      <p:nvGrpSpPr>
        <p:cNvPr id="1" name=""/>
        <p:cNvGrpSpPr/>
        <p:nvPr/>
      </p:nvGrpSpPr>
      <p:grpSpPr>
        <a:xfrm>
          <a:off x="0" y="0"/>
          <a:ext cx="0" cy="0"/>
          <a:chOff x="0" y="0"/>
          <a:chExt cx="0" cy="0"/>
        </a:xfrm>
      </p:grpSpPr>
      <p:pic>
        <p:nvPicPr>
          <p:cNvPr id="2" name="Image 0" descr="Página principal de PerfumeTrending en tema oscuro, con buscador y catálogo de perfumes">    </p:cNvPr>
          <p:cNvPicPr>
            <a:picLocks noChangeAspect="1"/>
          </p:cNvPicPr>
          <p:nvPr/>
        </p:nvPicPr>
        <p:blipFill>
          <a:blip r:embed="rId1"/>
          <a:srcRect l="0" r="0" t="140" b="140"/>
          <a:stretch/>
        </p:blipFill>
        <p:spPr>
          <a:xfrm>
            <a:off x="6007100" y="1854200"/>
            <a:ext cx="5359400" cy="3124200"/>
          </a:xfrm>
          <a:prstGeom prst="roundRect">
            <a:avLst>
              <a:gd name="adj" fmla="val 3659"/>
            </a:avLst>
          </a:prstGeom>
          <a:effectLst>
            <a:outerShdw sx="100000" sy="100000" kx="0" ky="0" algn="bl" rotWithShape="0" blurRad="508000" dist="203200" dir="5400000">
              <a:srgbClr val="000000">
                <a:alpha val="50000"/>
              </a:srgbClr>
            </a:outerShdw>
          </a:effectLst>
        </p:spPr>
      </p:pic>
      <p:sp>
        <p:nvSpPr>
          <p:cNvPr id="3" name="Shape 0"/>
          <p:cNvSpPr/>
          <p:nvPr/>
        </p:nvSpPr>
        <p:spPr>
          <a:xfrm>
            <a:off x="6000750" y="1847850"/>
            <a:ext cx="5372100" cy="3136900"/>
          </a:xfrm>
          <a:prstGeom prst="roundRect">
            <a:avLst>
              <a:gd name="adj" fmla="val 3846"/>
            </a:avLst>
          </a:prstGeom>
          <a:noFill/>
          <a:ln w="12700">
            <a:solidFill>
              <a:srgbClr val="3A3544"/>
            </a:solidFill>
            <a:prstDash val="solid"/>
          </a:ln>
        </p:spPr>
      </p:sp>
      <p:sp>
        <p:nvSpPr>
          <p:cNvPr id="4" name="Text 1"/>
          <p:cNvSpPr/>
          <p:nvPr/>
        </p:nvSpPr>
        <p:spPr>
          <a:xfrm>
            <a:off x="812800" y="1694557"/>
            <a:ext cx="4839970" cy="256480"/>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D9B77E"/>
                </a:solidFill>
                <a:latin typeface="DM Sans" pitchFamily="34" charset="0"/>
                <a:ea typeface="DM Sans" pitchFamily="34" charset="-122"/>
                <a:cs typeface="DM Sans" pitchFamily="34" charset="-120"/>
              </a:rPr>
              <a:t>PROYECTO APT · FASE 2</a:t>
            </a:r>
            <a:endParaRPr lang="en-US" sz="1300" dirty="0"/>
          </a:p>
        </p:txBody>
      </p:sp>
      <p:sp>
        <p:nvSpPr>
          <p:cNvPr id="5" name="Text 2"/>
          <p:cNvSpPr/>
          <p:nvPr>
            <p:ph type="title"/>
          </p:nvPr>
        </p:nvSpPr>
        <p:spPr>
          <a:xfrm>
            <a:off x="812800" y="2103438"/>
            <a:ext cx="4839970" cy="1930400"/>
          </a:xfrm>
          <a:prstGeom prst="rect">
            <a:avLst/>
          </a:prstGeom>
          <a:noFill/>
          <a:ln/>
        </p:spPr>
        <p:txBody>
          <a:bodyPr wrap="square" lIns="0" tIns="0" rIns="0" bIns="0" rtlCol="0" anchor="t">
            <a:normAutofit/>
          </a:bodyPr>
          <a:lstStyle/>
          <a:p>
            <a:pPr algn="l" indent="0" marL="0">
              <a:lnSpc>
                <a:spcPts val="7500"/>
              </a:lnSpc>
              <a:buNone/>
            </a:pPr>
            <a:r>
              <a:rPr lang="en-US" sz="7500" b="1" i="0" dirty="0">
                <a:solidFill>
                  <a:srgbClr val="F5F0E8"/>
                </a:solidFill>
                <a:latin typeface="Cormorant Garamond" pitchFamily="18" charset="0"/>
                <a:ea typeface="Cormorant Garamond" pitchFamily="18" charset="-122"/>
                <a:cs typeface="Cormorant Garamond" pitchFamily="18" charset="-120"/>
              </a:rPr>
              <a:t>Perfume</a:t>
            </a:r>
            <a:endParaRPr lang="en-US" sz="7500" dirty="0"/>
          </a:p>
          <a:p>
            <a:pPr algn="l" indent="0" marL="0">
              <a:lnSpc>
                <a:spcPts val="7500"/>
              </a:lnSpc>
              <a:buNone/>
            </a:pPr>
            <a:r>
              <a:rPr lang="en-US" sz="7500" b="1" i="0" dirty="0">
                <a:solidFill>
                  <a:srgbClr val="E5636A"/>
                </a:solidFill>
                <a:latin typeface="Cormorant Garamond" pitchFamily="18" charset="0"/>
                <a:ea typeface="Cormorant Garamond" pitchFamily="18" charset="-122"/>
                <a:cs typeface="Cormorant Garamond" pitchFamily="18" charset="-120"/>
              </a:rPr>
              <a:t>Trending</a:t>
            </a:r>
            <a:endParaRPr lang="en-US" sz="7500" dirty="0"/>
          </a:p>
        </p:txBody>
      </p:sp>
      <p:sp>
        <p:nvSpPr>
          <p:cNvPr id="6" name="Text 3"/>
          <p:cNvSpPr/>
          <p:nvPr/>
        </p:nvSpPr>
        <p:spPr>
          <a:xfrm>
            <a:off x="812800" y="4186238"/>
            <a:ext cx="4839970" cy="100260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CFC8D6"/>
                </a:solidFill>
                <a:latin typeface="DM Sans" pitchFamily="34" charset="0"/>
                <a:ea typeface="DM Sans" pitchFamily="34" charset="-122"/>
                <a:cs typeface="DM Sans" pitchFamily="34" charset="-120"/>
              </a:rPr>
              <a:t>Comparador de precios, Trust Score y Hype Radar para el mercado chileno de perfumería.</a:t>
            </a:r>
            <a:endParaRPr lang="en-US" sz="1900" dirty="0"/>
          </a:p>
        </p:txBody>
      </p:sp>
      <p:sp>
        <p:nvSpPr>
          <p:cNvPr id="7" name="Text 4"/>
          <p:cNvSpPr/>
          <p:nvPr/>
        </p:nvSpPr>
        <p:spPr>
          <a:xfrm>
            <a:off x="812800" y="573037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0E8"/>
                </a:solidFill>
                <a:latin typeface="DM Sans" pitchFamily="34" charset="0"/>
                <a:ea typeface="DM Sans" pitchFamily="34" charset="-122"/>
                <a:cs typeface="DM Sans" pitchFamily="34" charset="-120"/>
              </a:rPr>
              <a:t>Benjamín Espinoza · Diego Medina · Alonso Moreno</a:t>
            </a:r>
            <a:endParaRPr lang="en-US" sz="1400" dirty="0"/>
          </a:p>
        </p:txBody>
      </p:sp>
      <p:sp>
        <p:nvSpPr>
          <p:cNvPr id="8" name="Text 5"/>
          <p:cNvSpPr/>
          <p:nvPr/>
        </p:nvSpPr>
        <p:spPr>
          <a:xfrm>
            <a:off x="812800" y="6017320"/>
            <a:ext cx="78486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59DAE"/>
                </a:solidFill>
                <a:latin typeface="DM Sans" pitchFamily="34" charset="0"/>
                <a:ea typeface="DM Sans" pitchFamily="34" charset="-122"/>
                <a:cs typeface="DM Sans" pitchFamily="34" charset="-120"/>
              </a:rPr>
              <a:t>Duoc UC, Sede San Joaquín · Octubre de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6141C"/>
                </a:solidFill>
                <a:latin typeface="Cormorant Garamond" pitchFamily="18" charset="0"/>
                <a:ea typeface="Cormorant Garamond" pitchFamily="18" charset="-122"/>
                <a:cs typeface="Cormorant Garamond" pitchFamily="18" charset="-120"/>
              </a:rPr>
              <a:t>Qué es PerfumeTrending</a:t>
            </a:r>
            <a:endParaRPr lang="en-US" sz="4000" dirty="0"/>
          </a:p>
        </p:txBody>
      </p:sp>
      <p:sp>
        <p:nvSpPr>
          <p:cNvPr id="3" name="Text 1"/>
          <p:cNvSpPr/>
          <p:nvPr/>
        </p:nvSpPr>
        <p:spPr>
          <a:xfrm>
            <a:off x="812800" y="1574800"/>
            <a:ext cx="91567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4A4650"/>
                </a:solidFill>
                <a:latin typeface="DM Sans" pitchFamily="34" charset="0"/>
                <a:ea typeface="DM Sans" pitchFamily="34" charset="-122"/>
                <a:cs typeface="DM Sans" pitchFamily="34" charset="-120"/>
              </a:rPr>
              <a:t>Plataforma web que compara precios de perfumes en tiendas chilenas y suma dos indicadores propios.</a:t>
            </a:r>
            <a:endParaRPr lang="en-US" sz="1700" dirty="0"/>
          </a:p>
        </p:txBody>
      </p:sp>
      <p:sp>
        <p:nvSpPr>
          <p:cNvPr id="4" name="Shape 2"/>
          <p:cNvSpPr/>
          <p:nvPr/>
        </p:nvSpPr>
        <p:spPr>
          <a:xfrm>
            <a:off x="815975" y="2385616"/>
            <a:ext cx="3380284" cy="2073672"/>
          </a:xfrm>
          <a:prstGeom prst="roundRect">
            <a:avLst>
              <a:gd name="adj" fmla="val 5971"/>
            </a:avLst>
          </a:prstGeom>
          <a:solidFill>
            <a:srgbClr val="FBF8F2"/>
          </a:solidFill>
          <a:ln w="6350">
            <a:solidFill>
              <a:srgbClr val="E2D8C8"/>
            </a:solidFill>
            <a:prstDash val="solid"/>
          </a:ln>
        </p:spPr>
      </p:sp>
      <p:pic>
        <p:nvPicPr>
          <p:cNvPr id="5" name="Image 0" descr="Search">    </p:cNvPr>
          <p:cNvPicPr>
            <a:picLocks noChangeAspect="1"/>
          </p:cNvPicPr>
          <p:nvPr/>
        </p:nvPicPr>
        <p:blipFill>
          <a:blip r:embed="rId1"/>
          <a:srcRect l="0" r="0" t="0" b="0"/>
          <a:stretch/>
        </p:blipFill>
        <p:spPr>
          <a:xfrm>
            <a:off x="1047750" y="2617391"/>
            <a:ext cx="355600" cy="355600"/>
          </a:xfrm>
          <a:prstGeom prst="rect">
            <a:avLst/>
          </a:prstGeom>
        </p:spPr>
      </p:pic>
      <p:sp>
        <p:nvSpPr>
          <p:cNvPr id="6" name="Text 3"/>
          <p:cNvSpPr/>
          <p:nvPr/>
        </p:nvSpPr>
        <p:spPr>
          <a:xfrm>
            <a:off x="1047750" y="307459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41C"/>
                </a:solidFill>
                <a:latin typeface="Cormorant Garamond" pitchFamily="18" charset="0"/>
                <a:ea typeface="Cormorant Garamond" pitchFamily="18" charset="-122"/>
                <a:cs typeface="Cormorant Garamond" pitchFamily="18" charset="-120"/>
              </a:rPr>
              <a:t>Comparador de precios</a:t>
            </a:r>
            <a:endParaRPr lang="en-US" sz="2000" dirty="0"/>
          </a:p>
        </p:txBody>
      </p:sp>
      <p:sp>
        <p:nvSpPr>
          <p:cNvPr id="7" name="Text 4"/>
          <p:cNvSpPr/>
          <p:nvPr/>
        </p:nvSpPr>
        <p:spPr>
          <a:xfrm>
            <a:off x="1047750" y="3480991"/>
            <a:ext cx="300423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50"/>
                </a:solidFill>
                <a:latin typeface="DM Sans" pitchFamily="34" charset="0"/>
                <a:ea typeface="DM Sans" pitchFamily="34" charset="-122"/>
                <a:cs typeface="DM Sans" pitchFamily="34" charset="-120"/>
              </a:rPr>
              <a:t>Reúne el precio de un mismo perfume en distintas tiendas y destaca la oferta más barata.</a:t>
            </a:r>
            <a:endParaRPr lang="en-US" sz="1400" dirty="0"/>
          </a:p>
        </p:txBody>
      </p:sp>
      <p:sp>
        <p:nvSpPr>
          <p:cNvPr id="8" name="Shape 5"/>
          <p:cNvSpPr/>
          <p:nvPr/>
        </p:nvSpPr>
        <p:spPr>
          <a:xfrm>
            <a:off x="4405809" y="2385616"/>
            <a:ext cx="3380383" cy="2073672"/>
          </a:xfrm>
          <a:prstGeom prst="roundRect">
            <a:avLst>
              <a:gd name="adj" fmla="val 5971"/>
            </a:avLst>
          </a:prstGeom>
          <a:solidFill>
            <a:srgbClr val="FBF8F2"/>
          </a:solidFill>
          <a:ln w="6350">
            <a:solidFill>
              <a:srgbClr val="E2D8C8"/>
            </a:solidFill>
            <a:prstDash val="solid"/>
          </a:ln>
        </p:spPr>
      </p:sp>
      <p:pic>
        <p:nvPicPr>
          <p:cNvPr id="9" name="Image 1" descr="Verified">    </p:cNvPr>
          <p:cNvPicPr>
            <a:picLocks noChangeAspect="1"/>
          </p:cNvPicPr>
          <p:nvPr/>
        </p:nvPicPr>
        <p:blipFill>
          <a:blip r:embed="rId2"/>
          <a:srcRect l="0" r="0" t="0" b="0"/>
          <a:stretch/>
        </p:blipFill>
        <p:spPr>
          <a:xfrm>
            <a:off x="4637584" y="2617391"/>
            <a:ext cx="355600" cy="355600"/>
          </a:xfrm>
          <a:prstGeom prst="rect">
            <a:avLst/>
          </a:prstGeom>
        </p:spPr>
      </p:pic>
      <p:sp>
        <p:nvSpPr>
          <p:cNvPr id="10" name="Text 6"/>
          <p:cNvSpPr/>
          <p:nvPr/>
        </p:nvSpPr>
        <p:spPr>
          <a:xfrm>
            <a:off x="4637584" y="3074591"/>
            <a:ext cx="300433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41C"/>
                </a:solidFill>
                <a:latin typeface="Cormorant Garamond" pitchFamily="18" charset="0"/>
                <a:ea typeface="Cormorant Garamond" pitchFamily="18" charset="-122"/>
                <a:cs typeface="Cormorant Garamond" pitchFamily="18" charset="-120"/>
              </a:rPr>
              <a:t>Trust Score</a:t>
            </a:r>
            <a:endParaRPr lang="en-US" sz="2000" dirty="0"/>
          </a:p>
        </p:txBody>
      </p:sp>
      <p:sp>
        <p:nvSpPr>
          <p:cNvPr id="11" name="Text 7"/>
          <p:cNvSpPr/>
          <p:nvPr/>
        </p:nvSpPr>
        <p:spPr>
          <a:xfrm>
            <a:off x="4637584" y="3480991"/>
            <a:ext cx="300433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50"/>
                </a:solidFill>
                <a:latin typeface="DM Sans" pitchFamily="34" charset="0"/>
                <a:ea typeface="DM Sans" pitchFamily="34" charset="-122"/>
                <a:cs typeface="DM Sans" pitchFamily="34" charset="-120"/>
              </a:rPr>
              <a:t>Puntaje de confianza por tienda, según SSL, antigüedad del dominio y canal formal.</a:t>
            </a:r>
            <a:endParaRPr lang="en-US" sz="1400" dirty="0"/>
          </a:p>
        </p:txBody>
      </p:sp>
      <p:sp>
        <p:nvSpPr>
          <p:cNvPr id="12" name="Shape 8"/>
          <p:cNvSpPr/>
          <p:nvPr/>
        </p:nvSpPr>
        <p:spPr>
          <a:xfrm>
            <a:off x="7995741" y="2385616"/>
            <a:ext cx="3380284" cy="2073672"/>
          </a:xfrm>
          <a:prstGeom prst="roundRect">
            <a:avLst>
              <a:gd name="adj" fmla="val 5971"/>
            </a:avLst>
          </a:prstGeom>
          <a:solidFill>
            <a:srgbClr val="FBF8F2"/>
          </a:solidFill>
          <a:ln w="6350">
            <a:solidFill>
              <a:srgbClr val="E2D8C8"/>
            </a:solidFill>
            <a:prstDash val="solid"/>
          </a:ln>
        </p:spPr>
      </p:sp>
      <p:pic>
        <p:nvPicPr>
          <p:cNvPr id="13" name="Image 2" descr="Activity">    </p:cNvPr>
          <p:cNvPicPr>
            <a:picLocks noChangeAspect="1"/>
          </p:cNvPicPr>
          <p:nvPr/>
        </p:nvPicPr>
        <p:blipFill>
          <a:blip r:embed="rId3"/>
          <a:srcRect l="0" r="0" t="0" b="0"/>
          <a:stretch/>
        </p:blipFill>
        <p:spPr>
          <a:xfrm>
            <a:off x="8227516" y="2617391"/>
            <a:ext cx="355600" cy="355600"/>
          </a:xfrm>
          <a:prstGeom prst="rect">
            <a:avLst/>
          </a:prstGeom>
        </p:spPr>
      </p:pic>
      <p:sp>
        <p:nvSpPr>
          <p:cNvPr id="14" name="Text 9"/>
          <p:cNvSpPr/>
          <p:nvPr/>
        </p:nvSpPr>
        <p:spPr>
          <a:xfrm>
            <a:off x="8227516" y="3074591"/>
            <a:ext cx="30042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141C"/>
                </a:solidFill>
                <a:latin typeface="Cormorant Garamond" pitchFamily="18" charset="0"/>
                <a:ea typeface="Cormorant Garamond" pitchFamily="18" charset="-122"/>
                <a:cs typeface="Cormorant Garamond" pitchFamily="18" charset="-120"/>
              </a:rPr>
              <a:t>Hype Radar</a:t>
            </a:r>
            <a:endParaRPr lang="en-US" sz="2000" dirty="0"/>
          </a:p>
        </p:txBody>
      </p:sp>
      <p:sp>
        <p:nvSpPr>
          <p:cNvPr id="15" name="Text 10"/>
          <p:cNvSpPr/>
          <p:nvPr/>
        </p:nvSpPr>
        <p:spPr>
          <a:xfrm>
            <a:off x="8227516" y="3480991"/>
            <a:ext cx="300423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50"/>
                </a:solidFill>
                <a:latin typeface="DM Sans" pitchFamily="34" charset="0"/>
                <a:ea typeface="DM Sans" pitchFamily="34" charset="-122"/>
                <a:cs typeface="DM Sans" pitchFamily="34" charset="-120"/>
              </a:rPr>
              <a:t>Ranking de fragancias en tendencia, según menciones y crecimiento en YouTube.</a:t>
            </a:r>
            <a:endParaRPr lang="en-US" sz="1400" dirty="0"/>
          </a:p>
        </p:txBody>
      </p:sp>
      <p:sp>
        <p:nvSpPr>
          <p:cNvPr id="16" name="Shape 11"/>
          <p:cNvSpPr/>
          <p:nvPr/>
        </p:nvSpPr>
        <p:spPr>
          <a:xfrm>
            <a:off x="812800" y="4675188"/>
            <a:ext cx="2489200" cy="0"/>
          </a:xfrm>
          <a:prstGeom prst="line">
            <a:avLst/>
          </a:prstGeom>
          <a:noFill/>
          <a:ln w="19050">
            <a:solidFill>
              <a:srgbClr val="C8353B"/>
            </a:solidFill>
            <a:prstDash val="solid"/>
          </a:ln>
        </p:spPr>
      </p:sp>
      <p:sp>
        <p:nvSpPr>
          <p:cNvPr id="17" name="Text 12"/>
          <p:cNvSpPr/>
          <p:nvPr/>
        </p:nvSpPr>
        <p:spPr>
          <a:xfrm>
            <a:off x="812800" y="4786313"/>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8353B"/>
                </a:solidFill>
                <a:latin typeface="Cormorant Garamond" pitchFamily="18" charset="0"/>
                <a:ea typeface="Cormorant Garamond" pitchFamily="18" charset="-122"/>
                <a:cs typeface="Cormorant Garamond" pitchFamily="18" charset="-120"/>
              </a:rPr>
              <a:t>19</a:t>
            </a:r>
            <a:endParaRPr lang="en-US" sz="4800" dirty="0"/>
          </a:p>
        </p:txBody>
      </p:sp>
      <p:sp>
        <p:nvSpPr>
          <p:cNvPr id="18" name="Text 13"/>
          <p:cNvSpPr/>
          <p:nvPr/>
        </p:nvSpPr>
        <p:spPr>
          <a:xfrm>
            <a:off x="812800" y="5421313"/>
            <a:ext cx="256387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650"/>
                </a:solidFill>
                <a:latin typeface="DM Sans" pitchFamily="34" charset="0"/>
                <a:ea typeface="DM Sans" pitchFamily="34" charset="-122"/>
                <a:cs typeface="DM Sans" pitchFamily="34" charset="-120"/>
              </a:rPr>
              <a:t>requisitos funcionales</a:t>
            </a:r>
            <a:endParaRPr lang="en-US" sz="1300" dirty="0"/>
          </a:p>
        </p:txBody>
      </p:sp>
      <p:sp>
        <p:nvSpPr>
          <p:cNvPr id="19" name="Shape 14"/>
          <p:cNvSpPr/>
          <p:nvPr/>
        </p:nvSpPr>
        <p:spPr>
          <a:xfrm>
            <a:off x="3505200" y="4675188"/>
            <a:ext cx="2489200" cy="0"/>
          </a:xfrm>
          <a:prstGeom prst="line">
            <a:avLst/>
          </a:prstGeom>
          <a:noFill/>
          <a:ln w="19050">
            <a:solidFill>
              <a:srgbClr val="C8353B"/>
            </a:solidFill>
            <a:prstDash val="solid"/>
          </a:ln>
        </p:spPr>
      </p:sp>
      <p:sp>
        <p:nvSpPr>
          <p:cNvPr id="20" name="Text 15"/>
          <p:cNvSpPr/>
          <p:nvPr/>
        </p:nvSpPr>
        <p:spPr>
          <a:xfrm>
            <a:off x="3505200" y="4786313"/>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8353B"/>
                </a:solidFill>
                <a:latin typeface="Cormorant Garamond" pitchFamily="18" charset="0"/>
                <a:ea typeface="Cormorant Garamond" pitchFamily="18" charset="-122"/>
                <a:cs typeface="Cormorant Garamond" pitchFamily="18" charset="-120"/>
              </a:rPr>
              <a:t>12</a:t>
            </a:r>
            <a:endParaRPr lang="en-US" sz="4800" dirty="0"/>
          </a:p>
        </p:txBody>
      </p:sp>
      <p:sp>
        <p:nvSpPr>
          <p:cNvPr id="21" name="Text 16"/>
          <p:cNvSpPr/>
          <p:nvPr/>
        </p:nvSpPr>
        <p:spPr>
          <a:xfrm>
            <a:off x="3505200" y="5421313"/>
            <a:ext cx="256387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650"/>
                </a:solidFill>
                <a:latin typeface="DM Sans" pitchFamily="34" charset="0"/>
                <a:ea typeface="DM Sans" pitchFamily="34" charset="-122"/>
                <a:cs typeface="DM Sans" pitchFamily="34" charset="-120"/>
              </a:rPr>
              <a:t>requisitos no funcionales</a:t>
            </a:r>
            <a:endParaRPr lang="en-US" sz="1300" dirty="0"/>
          </a:p>
        </p:txBody>
      </p:sp>
      <p:sp>
        <p:nvSpPr>
          <p:cNvPr id="22" name="Shape 17"/>
          <p:cNvSpPr/>
          <p:nvPr/>
        </p:nvSpPr>
        <p:spPr>
          <a:xfrm>
            <a:off x="6197600" y="4675188"/>
            <a:ext cx="2489200" cy="0"/>
          </a:xfrm>
          <a:prstGeom prst="line">
            <a:avLst/>
          </a:prstGeom>
          <a:noFill/>
          <a:ln w="19050">
            <a:solidFill>
              <a:srgbClr val="C8353B"/>
            </a:solidFill>
            <a:prstDash val="solid"/>
          </a:ln>
        </p:spPr>
      </p:sp>
      <p:sp>
        <p:nvSpPr>
          <p:cNvPr id="23" name="Text 18"/>
          <p:cNvSpPr/>
          <p:nvPr/>
        </p:nvSpPr>
        <p:spPr>
          <a:xfrm>
            <a:off x="6197600" y="4786313"/>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8353B"/>
                </a:solidFill>
                <a:latin typeface="Cormorant Garamond" pitchFamily="18" charset="0"/>
                <a:ea typeface="Cormorant Garamond" pitchFamily="18" charset="-122"/>
                <a:cs typeface="Cormorant Garamond" pitchFamily="18" charset="-120"/>
              </a:rPr>
              <a:t>13</a:t>
            </a:r>
            <a:endParaRPr lang="en-US" sz="4800" dirty="0"/>
          </a:p>
        </p:txBody>
      </p:sp>
      <p:sp>
        <p:nvSpPr>
          <p:cNvPr id="24" name="Text 19"/>
          <p:cNvSpPr/>
          <p:nvPr/>
        </p:nvSpPr>
        <p:spPr>
          <a:xfrm>
            <a:off x="6197600" y="5421313"/>
            <a:ext cx="256387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650"/>
                </a:solidFill>
                <a:latin typeface="DM Sans" pitchFamily="34" charset="0"/>
                <a:ea typeface="DM Sans" pitchFamily="34" charset="-122"/>
                <a:cs typeface="DM Sans" pitchFamily="34" charset="-120"/>
              </a:rPr>
              <a:t>diagramas de diseño</a:t>
            </a:r>
            <a:endParaRPr lang="en-US" sz="1300" dirty="0"/>
          </a:p>
        </p:txBody>
      </p:sp>
      <p:sp>
        <p:nvSpPr>
          <p:cNvPr id="25" name="Shape 20"/>
          <p:cNvSpPr/>
          <p:nvPr/>
        </p:nvSpPr>
        <p:spPr>
          <a:xfrm>
            <a:off x="8890000" y="4675188"/>
            <a:ext cx="2489200" cy="0"/>
          </a:xfrm>
          <a:prstGeom prst="line">
            <a:avLst/>
          </a:prstGeom>
          <a:noFill/>
          <a:ln w="19050">
            <a:solidFill>
              <a:srgbClr val="C8353B"/>
            </a:solidFill>
            <a:prstDash val="solid"/>
          </a:ln>
        </p:spPr>
      </p:sp>
      <p:sp>
        <p:nvSpPr>
          <p:cNvPr id="26" name="Text 21"/>
          <p:cNvSpPr/>
          <p:nvPr/>
        </p:nvSpPr>
        <p:spPr>
          <a:xfrm>
            <a:off x="8890000" y="4786313"/>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8353B"/>
                </a:solidFill>
                <a:latin typeface="Cormorant Garamond" pitchFamily="18" charset="0"/>
                <a:ea typeface="Cormorant Garamond" pitchFamily="18" charset="-122"/>
                <a:cs typeface="Cormorant Garamond" pitchFamily="18" charset="-120"/>
              </a:rPr>
              <a:t>28</a:t>
            </a:r>
            <a:endParaRPr lang="en-US" sz="4800" dirty="0"/>
          </a:p>
        </p:txBody>
      </p:sp>
      <p:sp>
        <p:nvSpPr>
          <p:cNvPr id="27" name="Text 22"/>
          <p:cNvSpPr/>
          <p:nvPr/>
        </p:nvSpPr>
        <p:spPr>
          <a:xfrm>
            <a:off x="8890000" y="5421313"/>
            <a:ext cx="256387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4650"/>
                </a:solidFill>
                <a:latin typeface="DM Sans" pitchFamily="34" charset="0"/>
                <a:ea typeface="DM Sans" pitchFamily="34" charset="-122"/>
                <a:cs typeface="DM Sans" pitchFamily="34" charset="-120"/>
              </a:rPr>
              <a:t>capturas de evidencia</a:t>
            </a:r>
            <a:endParaRPr lang="en-US" sz="1300" dirty="0"/>
          </a:p>
        </p:txBody>
      </p:sp>
      <p:sp>
        <p:nvSpPr>
          <p:cNvPr id="28"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66"/>
                </a:solidFill>
                <a:latin typeface="DM Sans" pitchFamily="34" charset="0"/>
                <a:ea typeface="DM Sans" pitchFamily="34" charset="-122"/>
                <a:cs typeface="DM Sans" pitchFamily="34" charset="-120"/>
              </a:rPr>
              <a:t>PerfumeTrending · Proyecto APT · Fase 2</a:t>
            </a:r>
            <a:endParaRPr lang="en-US" sz="1200" dirty="0"/>
          </a:p>
        </p:txBody>
      </p:sp>
      <p:sp>
        <p:nvSpPr>
          <p:cNvPr id="29"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866"/>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4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5F0E8"/>
                </a:solidFill>
                <a:latin typeface="Cormorant Garamond" pitchFamily="18" charset="0"/>
                <a:ea typeface="Cormorant Garamond" pitchFamily="18" charset="-122"/>
                <a:cs typeface="Cormorant Garamond" pitchFamily="18" charset="-120"/>
              </a:rPr>
              <a:t>Arquitectura del sistema</a:t>
            </a:r>
            <a:endParaRPr lang="en-US" sz="4000" dirty="0"/>
          </a:p>
        </p:txBody>
      </p:sp>
      <p:sp>
        <p:nvSpPr>
          <p:cNvPr id="3" name="Shape 1"/>
          <p:cNvSpPr/>
          <p:nvPr/>
        </p:nvSpPr>
        <p:spPr>
          <a:xfrm>
            <a:off x="815975" y="1577975"/>
            <a:ext cx="1390650" cy="2799953"/>
          </a:xfrm>
          <a:prstGeom prst="roundRect">
            <a:avLst>
              <a:gd name="adj" fmla="val 8904"/>
            </a:avLst>
          </a:prstGeom>
          <a:solidFill>
            <a:srgbClr val="221F2B"/>
          </a:solidFill>
          <a:ln w="6350">
            <a:solidFill>
              <a:srgbClr val="3A3544"/>
            </a:solidFill>
            <a:prstDash val="solid"/>
          </a:ln>
        </p:spPr>
      </p:sp>
      <p:sp>
        <p:nvSpPr>
          <p:cNvPr id="4" name="Text 2"/>
          <p:cNvSpPr/>
          <p:nvPr/>
        </p:nvSpPr>
        <p:spPr>
          <a:xfrm>
            <a:off x="996950" y="2363391"/>
            <a:ext cx="10795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9B77E"/>
                </a:solidFill>
                <a:latin typeface="Cormorant Garamond" pitchFamily="18" charset="0"/>
                <a:ea typeface="Cormorant Garamond" pitchFamily="18" charset="-122"/>
                <a:cs typeface="Cormorant Garamond" pitchFamily="18" charset="-120"/>
              </a:rPr>
              <a:t>Usuario</a:t>
            </a:r>
            <a:endParaRPr lang="en-US" sz="1800" dirty="0"/>
          </a:p>
        </p:txBody>
      </p:sp>
      <p:sp>
        <p:nvSpPr>
          <p:cNvPr id="5" name="Text 3"/>
          <p:cNvSpPr/>
          <p:nvPr/>
        </p:nvSpPr>
        <p:spPr>
          <a:xfrm>
            <a:off x="996950" y="2701131"/>
            <a:ext cx="107950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FC8D6"/>
                </a:solidFill>
                <a:latin typeface="DM Sans" pitchFamily="34" charset="0"/>
                <a:ea typeface="DM Sans" pitchFamily="34" charset="-122"/>
                <a:cs typeface="DM Sans" pitchFamily="34" charset="-120"/>
              </a:rPr>
              <a:t>Navegador web, en computador o celular.</a:t>
            </a:r>
            <a:endParaRPr lang="en-US" sz="1300" dirty="0"/>
          </a:p>
        </p:txBody>
      </p:sp>
      <p:pic>
        <p:nvPicPr>
          <p:cNvPr id="6" name="Image 0" descr="arrow-right">    </p:cNvPr>
          <p:cNvPicPr>
            <a:picLocks noChangeAspect="1"/>
          </p:cNvPicPr>
          <p:nvPr/>
        </p:nvPicPr>
        <p:blipFill>
          <a:blip r:embed="rId1"/>
          <a:srcRect l="0" r="0" t="0" b="0"/>
          <a:stretch/>
        </p:blipFill>
        <p:spPr>
          <a:xfrm>
            <a:off x="2311400" y="2876352"/>
            <a:ext cx="355600" cy="203200"/>
          </a:xfrm>
          <a:prstGeom prst="rect">
            <a:avLst/>
          </a:prstGeom>
        </p:spPr>
      </p:pic>
      <p:sp>
        <p:nvSpPr>
          <p:cNvPr id="7" name="Shape 4"/>
          <p:cNvSpPr/>
          <p:nvPr/>
        </p:nvSpPr>
        <p:spPr>
          <a:xfrm>
            <a:off x="2771775" y="1577975"/>
            <a:ext cx="2089150" cy="2799953"/>
          </a:xfrm>
          <a:prstGeom prst="roundRect">
            <a:avLst>
              <a:gd name="adj" fmla="val 5927"/>
            </a:avLst>
          </a:prstGeom>
          <a:solidFill>
            <a:srgbClr val="221F2B"/>
          </a:solidFill>
          <a:ln w="6350">
            <a:solidFill>
              <a:srgbClr val="3A3544"/>
            </a:solidFill>
            <a:prstDash val="solid"/>
          </a:ln>
        </p:spPr>
      </p:sp>
      <p:sp>
        <p:nvSpPr>
          <p:cNvPr id="8" name="Text 5"/>
          <p:cNvSpPr/>
          <p:nvPr/>
        </p:nvSpPr>
        <p:spPr>
          <a:xfrm>
            <a:off x="2952750" y="2318643"/>
            <a:ext cx="17790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9B77E"/>
                </a:solidFill>
                <a:latin typeface="Cormorant Garamond" pitchFamily="18" charset="0"/>
                <a:ea typeface="Cormorant Garamond" pitchFamily="18" charset="-122"/>
                <a:cs typeface="Cormorant Garamond" pitchFamily="18" charset="-120"/>
              </a:rPr>
              <a:t>Frontend</a:t>
            </a:r>
            <a:endParaRPr lang="en-US" sz="1800" dirty="0"/>
          </a:p>
        </p:txBody>
      </p:sp>
      <p:sp>
        <p:nvSpPr>
          <p:cNvPr id="9" name="Text 6"/>
          <p:cNvSpPr/>
          <p:nvPr/>
        </p:nvSpPr>
        <p:spPr>
          <a:xfrm>
            <a:off x="2952750" y="2656384"/>
            <a:ext cx="177901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0E8"/>
                </a:solidFill>
                <a:latin typeface="DM Sans" pitchFamily="34" charset="0"/>
                <a:ea typeface="DM Sans" pitchFamily="34" charset="-122"/>
                <a:cs typeface="DM Sans" pitchFamily="34" charset="-120"/>
              </a:rPr>
              <a:t>Streamlit</a:t>
            </a:r>
            <a:endParaRPr lang="en-US" sz="1400" dirty="0"/>
          </a:p>
        </p:txBody>
      </p:sp>
      <p:sp>
        <p:nvSpPr>
          <p:cNvPr id="10" name="Text 7"/>
          <p:cNvSpPr/>
          <p:nvPr/>
        </p:nvSpPr>
        <p:spPr>
          <a:xfrm>
            <a:off x="2952750" y="2968724"/>
            <a:ext cx="177901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FC8D6"/>
                </a:solidFill>
                <a:latin typeface="DM Sans" pitchFamily="34" charset="0"/>
                <a:ea typeface="DM Sans" pitchFamily="34" charset="-122"/>
                <a:cs typeface="DM Sans" pitchFamily="34" charset="-120"/>
              </a:rPr>
              <a:t>Buscador, comparador, Trust Score y Hype Radar.</a:t>
            </a:r>
            <a:endParaRPr lang="en-US" sz="1300" dirty="0"/>
          </a:p>
        </p:txBody>
      </p:sp>
      <p:pic>
        <p:nvPicPr>
          <p:cNvPr id="11" name="Image 1" descr="arrow-right">    </p:cNvPr>
          <p:cNvPicPr>
            <a:picLocks noChangeAspect="1"/>
          </p:cNvPicPr>
          <p:nvPr/>
        </p:nvPicPr>
        <p:blipFill>
          <a:blip r:embed="rId2"/>
          <a:srcRect l="0" r="0" t="0" b="0"/>
          <a:stretch/>
        </p:blipFill>
        <p:spPr>
          <a:xfrm>
            <a:off x="4965700" y="2876352"/>
            <a:ext cx="355600" cy="203200"/>
          </a:xfrm>
          <a:prstGeom prst="rect">
            <a:avLst/>
          </a:prstGeom>
        </p:spPr>
      </p:pic>
      <p:sp>
        <p:nvSpPr>
          <p:cNvPr id="12" name="Shape 8"/>
          <p:cNvSpPr/>
          <p:nvPr/>
        </p:nvSpPr>
        <p:spPr>
          <a:xfrm>
            <a:off x="5426075" y="1577975"/>
            <a:ext cx="3168650" cy="2799953"/>
          </a:xfrm>
          <a:prstGeom prst="roundRect">
            <a:avLst>
              <a:gd name="adj" fmla="val 4422"/>
            </a:avLst>
          </a:prstGeom>
          <a:solidFill>
            <a:srgbClr val="221F2B"/>
          </a:solidFill>
          <a:ln w="6350">
            <a:solidFill>
              <a:srgbClr val="3A3544"/>
            </a:solidFill>
            <a:prstDash val="solid"/>
          </a:ln>
        </p:spPr>
      </p:sp>
      <p:sp>
        <p:nvSpPr>
          <p:cNvPr id="13" name="Text 9"/>
          <p:cNvSpPr/>
          <p:nvPr/>
        </p:nvSpPr>
        <p:spPr>
          <a:xfrm>
            <a:off x="5607050" y="1758950"/>
            <a:ext cx="289090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9B77E"/>
                </a:solidFill>
                <a:latin typeface="Cormorant Garamond" pitchFamily="18" charset="0"/>
                <a:ea typeface="Cormorant Garamond" pitchFamily="18" charset="-122"/>
                <a:cs typeface="Cormorant Garamond" pitchFamily="18" charset="-120"/>
              </a:rPr>
              <a:t>Backend</a:t>
            </a:r>
            <a:endParaRPr lang="en-US" sz="1800" dirty="0"/>
          </a:p>
        </p:txBody>
      </p:sp>
      <p:sp>
        <p:nvSpPr>
          <p:cNvPr id="14" name="Text 10"/>
          <p:cNvSpPr/>
          <p:nvPr/>
        </p:nvSpPr>
        <p:spPr>
          <a:xfrm>
            <a:off x="5607050" y="2109391"/>
            <a:ext cx="289090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0E8"/>
                </a:solidFill>
                <a:latin typeface="DM Sans" pitchFamily="34" charset="0"/>
                <a:ea typeface="DM Sans" pitchFamily="34" charset="-122"/>
                <a:cs typeface="DM Sans" pitchFamily="34" charset="-120"/>
              </a:rPr>
              <a:t>Python</a:t>
            </a:r>
            <a:endParaRPr lang="en-US" sz="1400" dirty="0"/>
          </a:p>
        </p:txBody>
      </p:sp>
      <p:sp>
        <p:nvSpPr>
          <p:cNvPr id="15" name="Text 11"/>
          <p:cNvSpPr/>
          <p:nvPr/>
        </p:nvSpPr>
        <p:spPr>
          <a:xfrm>
            <a:off x="5607050" y="2434431"/>
            <a:ext cx="2806700" cy="383480"/>
          </a:xfrm>
          <a:prstGeom prst="roundRect">
            <a:avLst>
              <a:gd name="adj" fmla="val 19871"/>
            </a:avLst>
          </a:prstGeom>
          <a:solidFill>
            <a:srgbClr val="2E2A39"/>
          </a:solidFill>
          <a:ln/>
        </p:spPr>
        <p:txBody>
          <a:bodyPr wrap="square" lIns="104682" tIns="53882" rIns="28101" bIns="28482" rtlCol="0" anchor="t">
            <a:normAutofit/>
          </a:bodyPr>
          <a:lstStyle/>
          <a:p>
            <a:pPr algn="l" indent="0" marL="0">
              <a:lnSpc>
                <a:spcPts val="1820"/>
              </a:lnSpc>
              <a:buNone/>
            </a:pPr>
            <a:r>
              <a:rPr lang="en-US" sz="1300" dirty="0">
                <a:solidFill>
                  <a:srgbClr val="F5F0E8"/>
                </a:solidFill>
                <a:latin typeface="DM Sans" pitchFamily="34" charset="0"/>
                <a:ea typeface="DM Sans" pitchFamily="34" charset="-122"/>
                <a:cs typeface="DM Sans" pitchFamily="34" charset="-120"/>
              </a:rPr>
              <a:t>Motor de Web Scraping</a:t>
            </a:r>
            <a:endParaRPr lang="en-US" sz="1300" dirty="0"/>
          </a:p>
        </p:txBody>
      </p:sp>
      <p:sp>
        <p:nvSpPr>
          <p:cNvPr id="16" name="Text 12"/>
          <p:cNvSpPr/>
          <p:nvPr/>
        </p:nvSpPr>
        <p:spPr>
          <a:xfrm>
            <a:off x="5607050" y="2894112"/>
            <a:ext cx="2806700" cy="383480"/>
          </a:xfrm>
          <a:prstGeom prst="roundRect">
            <a:avLst>
              <a:gd name="adj" fmla="val 19871"/>
            </a:avLst>
          </a:prstGeom>
          <a:solidFill>
            <a:srgbClr val="2E2A39"/>
          </a:solidFill>
          <a:ln/>
        </p:spPr>
        <p:txBody>
          <a:bodyPr wrap="square" lIns="104682" tIns="53882" rIns="28101" bIns="28482" rtlCol="0" anchor="t">
            <a:normAutofit/>
          </a:bodyPr>
          <a:lstStyle/>
          <a:p>
            <a:pPr algn="l" indent="0" marL="0">
              <a:lnSpc>
                <a:spcPts val="1820"/>
              </a:lnSpc>
              <a:buNone/>
            </a:pPr>
            <a:r>
              <a:rPr lang="en-US" sz="1300" dirty="0">
                <a:solidFill>
                  <a:srgbClr val="F5F0E8"/>
                </a:solidFill>
                <a:latin typeface="DM Sans" pitchFamily="34" charset="0"/>
                <a:ea typeface="DM Sans" pitchFamily="34" charset="-122"/>
                <a:cs typeface="DM Sans" pitchFamily="34" charset="-120"/>
              </a:rPr>
              <a:t>Normalización de datos</a:t>
            </a:r>
            <a:endParaRPr lang="en-US" sz="1300" dirty="0"/>
          </a:p>
        </p:txBody>
      </p:sp>
      <p:sp>
        <p:nvSpPr>
          <p:cNvPr id="17" name="Text 13"/>
          <p:cNvSpPr/>
          <p:nvPr/>
        </p:nvSpPr>
        <p:spPr>
          <a:xfrm>
            <a:off x="5607050" y="3353792"/>
            <a:ext cx="2806700" cy="383480"/>
          </a:xfrm>
          <a:prstGeom prst="roundRect">
            <a:avLst>
              <a:gd name="adj" fmla="val 19871"/>
            </a:avLst>
          </a:prstGeom>
          <a:solidFill>
            <a:srgbClr val="2E2A39"/>
          </a:solidFill>
          <a:ln/>
        </p:spPr>
        <p:txBody>
          <a:bodyPr wrap="square" lIns="104682" tIns="53882" rIns="28101" bIns="28482" rtlCol="0" anchor="t">
            <a:normAutofit/>
          </a:bodyPr>
          <a:lstStyle/>
          <a:p>
            <a:pPr algn="l" indent="0" marL="0">
              <a:lnSpc>
                <a:spcPts val="1820"/>
              </a:lnSpc>
              <a:buNone/>
            </a:pPr>
            <a:r>
              <a:rPr lang="en-US" sz="1300" dirty="0">
                <a:solidFill>
                  <a:srgbClr val="F5F0E8"/>
                </a:solidFill>
                <a:latin typeface="DM Sans" pitchFamily="34" charset="0"/>
                <a:ea typeface="DM Sans" pitchFamily="34" charset="-122"/>
                <a:cs typeface="DM Sans" pitchFamily="34" charset="-120"/>
              </a:rPr>
              <a:t>Cálculo del Trust Score</a:t>
            </a:r>
            <a:endParaRPr lang="en-US" sz="1300" dirty="0"/>
          </a:p>
        </p:txBody>
      </p:sp>
      <p:sp>
        <p:nvSpPr>
          <p:cNvPr id="18" name="Text 14"/>
          <p:cNvSpPr/>
          <p:nvPr/>
        </p:nvSpPr>
        <p:spPr>
          <a:xfrm>
            <a:off x="5607050" y="3813473"/>
            <a:ext cx="2806700" cy="383480"/>
          </a:xfrm>
          <a:prstGeom prst="roundRect">
            <a:avLst>
              <a:gd name="adj" fmla="val 19871"/>
            </a:avLst>
          </a:prstGeom>
          <a:solidFill>
            <a:srgbClr val="2E2A39"/>
          </a:solidFill>
          <a:ln/>
        </p:spPr>
        <p:txBody>
          <a:bodyPr wrap="square" lIns="104682" tIns="53882" rIns="28101" bIns="28482" rtlCol="0" anchor="t">
            <a:normAutofit/>
          </a:bodyPr>
          <a:lstStyle/>
          <a:p>
            <a:pPr algn="l" indent="0" marL="0">
              <a:lnSpc>
                <a:spcPts val="1820"/>
              </a:lnSpc>
              <a:buNone/>
            </a:pPr>
            <a:r>
              <a:rPr lang="en-US" sz="1300" dirty="0">
                <a:solidFill>
                  <a:srgbClr val="F5F0E8"/>
                </a:solidFill>
                <a:latin typeface="DM Sans" pitchFamily="34" charset="0"/>
                <a:ea typeface="DM Sans" pitchFamily="34" charset="-122"/>
                <a:cs typeface="DM Sans" pitchFamily="34" charset="-120"/>
              </a:rPr>
              <a:t>Cálculo del Hype Score</a:t>
            </a:r>
            <a:endParaRPr lang="en-US" sz="1300" dirty="0"/>
          </a:p>
        </p:txBody>
      </p:sp>
      <p:pic>
        <p:nvPicPr>
          <p:cNvPr id="19" name="Image 2" descr="arrow-right">    </p:cNvPr>
          <p:cNvPicPr>
            <a:picLocks noChangeAspect="1"/>
          </p:cNvPicPr>
          <p:nvPr/>
        </p:nvPicPr>
        <p:blipFill>
          <a:blip r:embed="rId3"/>
          <a:srcRect l="0" r="0" t="0" b="0"/>
          <a:stretch/>
        </p:blipFill>
        <p:spPr>
          <a:xfrm>
            <a:off x="8699500" y="2876352"/>
            <a:ext cx="355600" cy="203200"/>
          </a:xfrm>
          <a:prstGeom prst="rect">
            <a:avLst/>
          </a:prstGeom>
        </p:spPr>
      </p:pic>
      <p:sp>
        <p:nvSpPr>
          <p:cNvPr id="20" name="Shape 15"/>
          <p:cNvSpPr/>
          <p:nvPr/>
        </p:nvSpPr>
        <p:spPr>
          <a:xfrm>
            <a:off x="9163050" y="1581150"/>
            <a:ext cx="1892300" cy="2793603"/>
          </a:xfrm>
          <a:prstGeom prst="roundRect">
            <a:avLst>
              <a:gd name="adj" fmla="val 6376"/>
            </a:avLst>
          </a:prstGeom>
          <a:solidFill>
            <a:srgbClr val="221F2B"/>
          </a:solidFill>
          <a:ln w="12700">
            <a:solidFill>
              <a:srgbClr val="D9B77E"/>
            </a:solidFill>
            <a:prstDash val="solid"/>
          </a:ln>
        </p:spPr>
      </p:sp>
      <p:sp>
        <p:nvSpPr>
          <p:cNvPr id="21" name="Text 16"/>
          <p:cNvSpPr/>
          <p:nvPr/>
        </p:nvSpPr>
        <p:spPr>
          <a:xfrm>
            <a:off x="9347200" y="2318643"/>
            <a:ext cx="15748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D9B77E"/>
                </a:solidFill>
                <a:latin typeface="Cormorant Garamond" pitchFamily="18" charset="0"/>
                <a:ea typeface="Cormorant Garamond" pitchFamily="18" charset="-122"/>
                <a:cs typeface="Cormorant Garamond" pitchFamily="18" charset="-120"/>
              </a:rPr>
              <a:t>Base de datos</a:t>
            </a:r>
            <a:endParaRPr lang="en-US" sz="1800" dirty="0"/>
          </a:p>
        </p:txBody>
      </p:sp>
      <p:sp>
        <p:nvSpPr>
          <p:cNvPr id="22" name="Text 17"/>
          <p:cNvSpPr/>
          <p:nvPr/>
        </p:nvSpPr>
        <p:spPr>
          <a:xfrm>
            <a:off x="9347200" y="2656384"/>
            <a:ext cx="157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0E8"/>
                </a:solidFill>
                <a:latin typeface="DM Sans" pitchFamily="34" charset="0"/>
                <a:ea typeface="DM Sans" pitchFamily="34" charset="-122"/>
                <a:cs typeface="DM Sans" pitchFamily="34" charset="-120"/>
              </a:rPr>
              <a:t>SQLite</a:t>
            </a:r>
            <a:endParaRPr lang="en-US" sz="1400" dirty="0"/>
          </a:p>
        </p:txBody>
      </p:sp>
      <p:sp>
        <p:nvSpPr>
          <p:cNvPr id="23" name="Text 18"/>
          <p:cNvSpPr/>
          <p:nvPr/>
        </p:nvSpPr>
        <p:spPr>
          <a:xfrm>
            <a:off x="9347200" y="2968724"/>
            <a:ext cx="157480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FC8D6"/>
                </a:solidFill>
                <a:latin typeface="DM Sans" pitchFamily="34" charset="0"/>
                <a:ea typeface="DM Sans" pitchFamily="34" charset="-122"/>
                <a:cs typeface="DM Sans" pitchFamily="34" charset="-120"/>
              </a:rPr>
              <a:t>Modo WAL, claves foráneas y catálogo semilla.</a:t>
            </a:r>
            <a:endParaRPr lang="en-US" sz="1300" dirty="0"/>
          </a:p>
        </p:txBody>
      </p:sp>
      <p:sp>
        <p:nvSpPr>
          <p:cNvPr id="24" name="Shape 19"/>
          <p:cNvSpPr/>
          <p:nvPr/>
        </p:nvSpPr>
        <p:spPr>
          <a:xfrm>
            <a:off x="815975" y="4587478"/>
            <a:ext cx="5200650" cy="885130"/>
          </a:xfrm>
          <a:prstGeom prst="roundRect">
            <a:avLst>
              <a:gd name="adj" fmla="val 13989"/>
            </a:avLst>
          </a:prstGeom>
          <a:solidFill>
            <a:srgbClr val="221F2B"/>
          </a:solidFill>
          <a:ln w="6350">
            <a:solidFill>
              <a:srgbClr val="3A3544"/>
            </a:solidFill>
            <a:prstDash val="solid"/>
          </a:ln>
        </p:spPr>
      </p:sp>
      <p:pic>
        <p:nvPicPr>
          <p:cNvPr id="25" name="Image 3" descr="Cloud">    </p:cNvPr>
          <p:cNvPicPr>
            <a:picLocks noChangeAspect="1"/>
          </p:cNvPicPr>
          <p:nvPr/>
        </p:nvPicPr>
        <p:blipFill>
          <a:blip r:embed="rId4"/>
          <a:srcRect l="0" r="0" t="0" b="0"/>
          <a:stretch/>
        </p:blipFill>
        <p:spPr>
          <a:xfrm>
            <a:off x="996950" y="4852194"/>
            <a:ext cx="355600" cy="355600"/>
          </a:xfrm>
          <a:prstGeom prst="rect">
            <a:avLst/>
          </a:prstGeom>
        </p:spPr>
      </p:pic>
      <p:sp>
        <p:nvSpPr>
          <p:cNvPr id="26" name="Text 20"/>
          <p:cNvSpPr/>
          <p:nvPr/>
        </p:nvSpPr>
        <p:spPr>
          <a:xfrm>
            <a:off x="1504950" y="4768453"/>
            <a:ext cx="32902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0E8"/>
                </a:solidFill>
                <a:latin typeface="DM Sans" pitchFamily="34" charset="0"/>
                <a:ea typeface="DM Sans" pitchFamily="34" charset="-122"/>
                <a:cs typeface="DM Sans" pitchFamily="34" charset="-120"/>
              </a:rPr>
              <a:t>Despliegue continuo</a:t>
            </a:r>
            <a:endParaRPr lang="en-US" sz="1500" dirty="0"/>
          </a:p>
        </p:txBody>
      </p:sp>
      <p:sp>
        <p:nvSpPr>
          <p:cNvPr id="27" name="Text 21"/>
          <p:cNvSpPr/>
          <p:nvPr/>
        </p:nvSpPr>
        <p:spPr>
          <a:xfrm>
            <a:off x="1504950" y="5060553"/>
            <a:ext cx="383333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C8D6"/>
                </a:solidFill>
                <a:latin typeface="DM Sans" pitchFamily="34" charset="0"/>
                <a:ea typeface="DM Sans" pitchFamily="34" charset="-122"/>
                <a:cs typeface="DM Sans" pitchFamily="34" charset="-120"/>
              </a:rPr>
              <a:t>GitHub hacia Streamlit Community Cloud.</a:t>
            </a:r>
            <a:endParaRPr lang="en-US" sz="1300" dirty="0"/>
          </a:p>
        </p:txBody>
      </p:sp>
      <p:sp>
        <p:nvSpPr>
          <p:cNvPr id="28" name="Shape 22"/>
          <p:cNvSpPr/>
          <p:nvPr/>
        </p:nvSpPr>
        <p:spPr>
          <a:xfrm>
            <a:off x="6175375" y="4587478"/>
            <a:ext cx="5200650" cy="885130"/>
          </a:xfrm>
          <a:prstGeom prst="roundRect">
            <a:avLst>
              <a:gd name="adj" fmla="val 13989"/>
            </a:avLst>
          </a:prstGeom>
          <a:solidFill>
            <a:srgbClr val="221F2B"/>
          </a:solidFill>
          <a:ln w="6350">
            <a:solidFill>
              <a:srgbClr val="3A3544"/>
            </a:solidFill>
            <a:prstDash val="solid"/>
          </a:ln>
        </p:spPr>
      </p:sp>
      <p:pic>
        <p:nvPicPr>
          <p:cNvPr id="29" name="Image 4" descr="Globe">    </p:cNvPr>
          <p:cNvPicPr>
            <a:picLocks noChangeAspect="1"/>
          </p:cNvPicPr>
          <p:nvPr/>
        </p:nvPicPr>
        <p:blipFill>
          <a:blip r:embed="rId5"/>
          <a:srcRect l="0" r="0" t="0" b="0"/>
          <a:stretch/>
        </p:blipFill>
        <p:spPr>
          <a:xfrm>
            <a:off x="6356350" y="4852194"/>
            <a:ext cx="355600" cy="355600"/>
          </a:xfrm>
          <a:prstGeom prst="rect">
            <a:avLst/>
          </a:prstGeom>
        </p:spPr>
      </p:pic>
      <p:sp>
        <p:nvSpPr>
          <p:cNvPr id="30" name="Text 23"/>
          <p:cNvSpPr/>
          <p:nvPr/>
        </p:nvSpPr>
        <p:spPr>
          <a:xfrm>
            <a:off x="6864350" y="4768453"/>
            <a:ext cx="297633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0E8"/>
                </a:solidFill>
                <a:latin typeface="DM Sans" pitchFamily="34" charset="0"/>
                <a:ea typeface="DM Sans" pitchFamily="34" charset="-122"/>
                <a:cs typeface="DM Sans" pitchFamily="34" charset="-120"/>
              </a:rPr>
              <a:t>Fuentes externas</a:t>
            </a:r>
            <a:endParaRPr lang="en-US" sz="1500" dirty="0"/>
          </a:p>
        </p:txBody>
      </p:sp>
      <p:sp>
        <p:nvSpPr>
          <p:cNvPr id="31" name="Text 24"/>
          <p:cNvSpPr/>
          <p:nvPr/>
        </p:nvSpPr>
        <p:spPr>
          <a:xfrm>
            <a:off x="6864350" y="5060553"/>
            <a:ext cx="346757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C8D6"/>
                </a:solidFill>
                <a:latin typeface="DM Sans" pitchFamily="34" charset="0"/>
                <a:ea typeface="DM Sans" pitchFamily="34" charset="-122"/>
                <a:cs typeface="DM Sans" pitchFamily="34" charset="-120"/>
              </a:rPr>
              <a:t>Tiendas online y API de YouTube Data.</a:t>
            </a:r>
            <a:endParaRPr lang="en-US" sz="1300" dirty="0"/>
          </a:p>
        </p:txBody>
      </p:sp>
      <p:sp>
        <p:nvSpPr>
          <p:cNvPr id="32"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9DAE"/>
                </a:solidFill>
                <a:latin typeface="DM Sans" pitchFamily="34" charset="0"/>
                <a:ea typeface="DM Sans" pitchFamily="34" charset="-122"/>
                <a:cs typeface="DM Sans" pitchFamily="34" charset="-120"/>
              </a:rPr>
              <a:t>PerfumeTrending · Proyecto APT · Fase 2</a:t>
            </a:r>
            <a:endParaRPr lang="en-US" sz="1200" dirty="0"/>
          </a:p>
        </p:txBody>
      </p:sp>
      <p:sp>
        <p:nvSpPr>
          <p:cNvPr id="33" name="Text 2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59DAE"/>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6141C"/>
                </a:solidFill>
                <a:latin typeface="Cormorant Garamond" pitchFamily="18" charset="0"/>
                <a:ea typeface="Cormorant Garamond" pitchFamily="18" charset="-122"/>
                <a:cs typeface="Cormorant Garamond" pitchFamily="18" charset="-120"/>
              </a:rPr>
              <a:t>Frontend: lo básico</a:t>
            </a:r>
            <a:endParaRPr lang="en-US" sz="4000" dirty="0"/>
          </a:p>
        </p:txBody>
      </p:sp>
      <p:sp>
        <p:nvSpPr>
          <p:cNvPr id="3" name="Text 1"/>
          <p:cNvSpPr/>
          <p:nvPr/>
        </p:nvSpPr>
        <p:spPr>
          <a:xfrm>
            <a:off x="812800" y="15494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50"/>
                </a:solidFill>
                <a:latin typeface="DM Sans" pitchFamily="34" charset="0"/>
                <a:ea typeface="DM Sans" pitchFamily="34" charset="-122"/>
                <a:cs typeface="DM Sans" pitchFamily="34" charset="-120"/>
              </a:rPr>
              <a:t>Catálogo de perfumes con buscador, accesos rápidos y selector de tema.</a:t>
            </a:r>
            <a:endParaRPr lang="en-US" sz="1600" dirty="0"/>
          </a:p>
        </p:txBody>
      </p:sp>
      <p:sp>
        <p:nvSpPr>
          <p:cNvPr id="4" name="Shape 2"/>
          <p:cNvSpPr/>
          <p:nvPr/>
        </p:nvSpPr>
        <p:spPr>
          <a:xfrm>
            <a:off x="812800" y="2011660"/>
            <a:ext cx="5181600" cy="3028950"/>
          </a:xfrm>
          <a:prstGeom prst="roundRect">
            <a:avLst>
              <a:gd name="adj" fmla="val 3354"/>
            </a:avLst>
          </a:prstGeom>
          <a:solidFill>
            <a:srgbClr val="16141C"/>
          </a:solidFill>
          <a:ln/>
        </p:spPr>
      </p:sp>
      <p:pic>
        <p:nvPicPr>
          <p:cNvPr id="5" name="Image 0" descr="Catálogo de PerfumeTrending en tema oscuro">    </p:cNvPr>
          <p:cNvPicPr>
            <a:picLocks noChangeAspect="1"/>
          </p:cNvPicPr>
          <p:nvPr/>
        </p:nvPicPr>
        <p:blipFill>
          <a:blip r:embed="rId1"/>
          <a:srcRect l="-89" r="-89" t="0" b="0"/>
          <a:stretch/>
        </p:blipFill>
        <p:spPr>
          <a:xfrm>
            <a:off x="819150" y="2018010"/>
            <a:ext cx="5168900" cy="3016250"/>
          </a:xfrm>
          <a:prstGeom prst="roundRect">
            <a:avLst>
              <a:gd name="adj" fmla="val 3158"/>
            </a:avLst>
          </a:prstGeom>
        </p:spPr>
      </p:pic>
      <p:sp>
        <p:nvSpPr>
          <p:cNvPr id="6" name="Shape 3"/>
          <p:cNvSpPr/>
          <p:nvPr/>
        </p:nvSpPr>
        <p:spPr>
          <a:xfrm>
            <a:off x="815975" y="2014835"/>
            <a:ext cx="5175250" cy="3022600"/>
          </a:xfrm>
          <a:prstGeom prst="roundRect">
            <a:avLst>
              <a:gd name="adj" fmla="val 3256"/>
            </a:avLst>
          </a:prstGeom>
          <a:noFill/>
          <a:ln w="6350">
            <a:solidFill>
              <a:srgbClr val="E2D8C8"/>
            </a:solidFill>
            <a:prstDash val="solid"/>
          </a:ln>
        </p:spPr>
      </p:sp>
      <p:sp>
        <p:nvSpPr>
          <p:cNvPr id="7" name="Text 4"/>
          <p:cNvSpPr/>
          <p:nvPr/>
        </p:nvSpPr>
        <p:spPr>
          <a:xfrm>
            <a:off x="812800" y="5129510"/>
            <a:ext cx="533704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41C"/>
                </a:solidFill>
                <a:latin typeface="DM Sans" pitchFamily="34" charset="0"/>
                <a:ea typeface="DM Sans" pitchFamily="34" charset="-122"/>
                <a:cs typeface="DM Sans" pitchFamily="34" charset="-120"/>
              </a:rPr>
              <a:t>Tema oscuro</a:t>
            </a:r>
            <a:endParaRPr lang="en-US" sz="1400" dirty="0"/>
          </a:p>
        </p:txBody>
      </p:sp>
      <p:sp>
        <p:nvSpPr>
          <p:cNvPr id="8" name="Shape 5"/>
          <p:cNvSpPr/>
          <p:nvPr/>
        </p:nvSpPr>
        <p:spPr>
          <a:xfrm>
            <a:off x="6197600" y="2011660"/>
            <a:ext cx="5181600" cy="3028950"/>
          </a:xfrm>
          <a:prstGeom prst="roundRect">
            <a:avLst>
              <a:gd name="adj" fmla="val 3354"/>
            </a:avLst>
          </a:prstGeom>
          <a:solidFill>
            <a:srgbClr val="FBF8F2"/>
          </a:solidFill>
          <a:ln/>
        </p:spPr>
      </p:sp>
      <p:pic>
        <p:nvPicPr>
          <p:cNvPr id="9" name="Image 1" descr="Catálogo de PerfumeTrending en tema claro">    </p:cNvPr>
          <p:cNvPicPr>
            <a:picLocks noChangeAspect="1"/>
          </p:cNvPicPr>
          <p:nvPr/>
        </p:nvPicPr>
        <p:blipFill>
          <a:blip r:embed="rId2"/>
          <a:stretch>
            <a:fillRect/>
          </a:stretch>
        </p:blipFill>
        <p:spPr>
          <a:xfrm>
            <a:off x="6279499" y="2018010"/>
            <a:ext cx="5017803" cy="3016250"/>
          </a:xfrm>
          <a:custGeom>
            <a:avLst/>
            <a:gdLst/>
            <a:ahLst/>
            <a:cxnLst/>
            <a:rect l="l" t="t" r="r" b="b"/>
            <a:pathLst>
              <a:path w="5017803" h="3016250">
                <a:moveTo>
                  <a:pt x="0" y="2060"/>
                </a:moveTo>
                <a:arcTo wR="95250" hR="95250" stAng="15483774" swAng="716226"/>
                <a:lnTo>
                  <a:pt x="4998101" y="0"/>
                </a:lnTo>
                <a:arcTo wR="95250" hR="95250" stAng="16200000" swAng="716226"/>
                <a:lnTo>
                  <a:pt x="5017803" y="3014190"/>
                </a:lnTo>
                <a:arcTo wR="95250" hR="95250" stAng="4683774" swAng="716226"/>
                <a:lnTo>
                  <a:pt x="19701" y="3016250"/>
                </a:lnTo>
                <a:arcTo wR="95250" hR="95250" stAng="5400000" swAng="716226"/>
                <a:close/>
              </a:path>
            </a:pathLst>
          </a:custGeom>
        </p:spPr>
      </p:pic>
      <p:sp>
        <p:nvSpPr>
          <p:cNvPr id="10" name="Shape 6"/>
          <p:cNvSpPr/>
          <p:nvPr/>
        </p:nvSpPr>
        <p:spPr>
          <a:xfrm>
            <a:off x="6200775" y="2014835"/>
            <a:ext cx="5175250" cy="3022600"/>
          </a:xfrm>
          <a:prstGeom prst="roundRect">
            <a:avLst>
              <a:gd name="adj" fmla="val 3256"/>
            </a:avLst>
          </a:prstGeom>
          <a:noFill/>
          <a:ln w="6350">
            <a:solidFill>
              <a:srgbClr val="E2D8C8"/>
            </a:solidFill>
            <a:prstDash val="solid"/>
          </a:ln>
        </p:spPr>
      </p:sp>
      <p:sp>
        <p:nvSpPr>
          <p:cNvPr id="11" name="Text 7"/>
          <p:cNvSpPr/>
          <p:nvPr/>
        </p:nvSpPr>
        <p:spPr>
          <a:xfrm>
            <a:off x="6197600" y="5129510"/>
            <a:ext cx="533704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141C"/>
                </a:solidFill>
                <a:latin typeface="DM Sans" pitchFamily="34" charset="0"/>
                <a:ea typeface="DM Sans" pitchFamily="34" charset="-122"/>
                <a:cs typeface="DM Sans" pitchFamily="34" charset="-120"/>
              </a:rPr>
              <a:t>Tema claro</a:t>
            </a:r>
            <a:endParaRPr lang="en-US" sz="1400" dirty="0"/>
          </a:p>
        </p:txBody>
      </p:sp>
      <p:sp>
        <p:nvSpPr>
          <p:cNvPr id="12"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66"/>
                </a:solidFill>
                <a:latin typeface="DM Sans" pitchFamily="34" charset="0"/>
                <a:ea typeface="DM Sans" pitchFamily="34" charset="-122"/>
                <a:cs typeface="DM Sans" pitchFamily="34" charset="-120"/>
              </a:rPr>
              <a:t>PerfumeTrending · Proyecto APT · Fase 2</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866"/>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4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5F0E8"/>
                </a:solidFill>
                <a:latin typeface="Cormorant Garamond" pitchFamily="18" charset="0"/>
                <a:ea typeface="Cormorant Garamond" pitchFamily="18" charset="-122"/>
                <a:cs typeface="Cormorant Garamond" pitchFamily="18" charset="-120"/>
              </a:rPr>
              <a:t>Frontend: funciones avanzadas</a:t>
            </a:r>
            <a:endParaRPr lang="en-US" sz="4000" dirty="0"/>
          </a:p>
        </p:txBody>
      </p:sp>
      <p:sp>
        <p:nvSpPr>
          <p:cNvPr id="3" name="Shape 1"/>
          <p:cNvSpPr/>
          <p:nvPr/>
        </p:nvSpPr>
        <p:spPr>
          <a:xfrm>
            <a:off x="815975" y="1577975"/>
            <a:ext cx="3380284" cy="3546872"/>
          </a:xfrm>
          <a:prstGeom prst="roundRect">
            <a:avLst>
              <a:gd name="adj" fmla="val 3663"/>
            </a:avLst>
          </a:prstGeom>
          <a:solidFill>
            <a:srgbClr val="221F2B"/>
          </a:solidFill>
          <a:ln w="6350">
            <a:solidFill>
              <a:srgbClr val="3A3544"/>
            </a:solidFill>
            <a:prstDash val="solid"/>
          </a:ln>
        </p:spPr>
      </p:sp>
      <p:sp>
        <p:nvSpPr>
          <p:cNvPr id="4" name="Shape 2"/>
          <p:cNvSpPr/>
          <p:nvPr/>
        </p:nvSpPr>
        <p:spPr>
          <a:xfrm>
            <a:off x="971550" y="1733550"/>
            <a:ext cx="2927350" cy="1930400"/>
          </a:xfrm>
          <a:prstGeom prst="roundRect">
            <a:avLst>
              <a:gd name="adj" fmla="val 3947"/>
            </a:avLst>
          </a:prstGeom>
          <a:solidFill>
            <a:srgbClr val="16141C"/>
          </a:solidFill>
          <a:ln/>
        </p:spPr>
      </p:sp>
      <p:pic>
        <p:nvPicPr>
          <p:cNvPr id="5" name="Image 0" descr="Radar del Hype con el ranking de fragancias virales">    </p:cNvPr>
          <p:cNvPicPr>
            <a:picLocks noChangeAspect="1"/>
          </p:cNvPicPr>
          <p:nvPr/>
        </p:nvPicPr>
        <p:blipFill>
          <a:blip r:embed="rId1"/>
          <a:srcRect l="-71" r="-71" t="0" b="0"/>
          <a:stretch/>
        </p:blipFill>
        <p:spPr>
          <a:xfrm>
            <a:off x="971550" y="1733550"/>
            <a:ext cx="2927350" cy="1930400"/>
          </a:xfrm>
          <a:prstGeom prst="roundRect">
            <a:avLst>
              <a:gd name="adj" fmla="val 3947"/>
            </a:avLst>
          </a:prstGeom>
        </p:spPr>
      </p:pic>
      <p:sp>
        <p:nvSpPr>
          <p:cNvPr id="6" name="Text 3"/>
          <p:cNvSpPr/>
          <p:nvPr/>
        </p:nvSpPr>
        <p:spPr>
          <a:xfrm>
            <a:off x="971550" y="3765550"/>
            <a:ext cx="31612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D9B77E"/>
                </a:solidFill>
                <a:latin typeface="Cormorant Garamond" pitchFamily="18" charset="0"/>
                <a:ea typeface="Cormorant Garamond" pitchFamily="18" charset="-122"/>
                <a:cs typeface="Cormorant Garamond" pitchFamily="18" charset="-120"/>
              </a:rPr>
              <a:t>Hype Radar</a:t>
            </a:r>
            <a:endParaRPr lang="en-US" sz="2000" dirty="0"/>
          </a:p>
        </p:txBody>
      </p:sp>
      <p:sp>
        <p:nvSpPr>
          <p:cNvPr id="7" name="Text 4"/>
          <p:cNvSpPr/>
          <p:nvPr/>
        </p:nvSpPr>
        <p:spPr>
          <a:xfrm>
            <a:off x="971550" y="4171950"/>
            <a:ext cx="31612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Ranking de fragancias virales con su Hype Score y datos de YouTube.</a:t>
            </a:r>
            <a:endParaRPr lang="en-US" sz="1400" dirty="0"/>
          </a:p>
        </p:txBody>
      </p:sp>
      <p:sp>
        <p:nvSpPr>
          <p:cNvPr id="8" name="Shape 5"/>
          <p:cNvSpPr/>
          <p:nvPr/>
        </p:nvSpPr>
        <p:spPr>
          <a:xfrm>
            <a:off x="4405809" y="1577975"/>
            <a:ext cx="3380383" cy="3546872"/>
          </a:xfrm>
          <a:prstGeom prst="roundRect">
            <a:avLst>
              <a:gd name="adj" fmla="val 3663"/>
            </a:avLst>
          </a:prstGeom>
          <a:solidFill>
            <a:srgbClr val="221F2B"/>
          </a:solidFill>
          <a:ln w="6350">
            <a:solidFill>
              <a:srgbClr val="3A3544"/>
            </a:solidFill>
            <a:prstDash val="solid"/>
          </a:ln>
        </p:spPr>
      </p:sp>
      <p:sp>
        <p:nvSpPr>
          <p:cNvPr id="9" name="Shape 6"/>
          <p:cNvSpPr/>
          <p:nvPr/>
        </p:nvSpPr>
        <p:spPr>
          <a:xfrm>
            <a:off x="4561384" y="1733550"/>
            <a:ext cx="2927350" cy="1930400"/>
          </a:xfrm>
          <a:prstGeom prst="roundRect">
            <a:avLst>
              <a:gd name="adj" fmla="val 3947"/>
            </a:avLst>
          </a:prstGeom>
          <a:solidFill>
            <a:srgbClr val="16141C"/>
          </a:solidFill>
          <a:ln/>
        </p:spPr>
      </p:sp>
      <p:pic>
        <p:nvPicPr>
          <p:cNvPr id="10" name="Image 1" descr="Páginas de Confianza con la lista de tiendas auditadas y su puntaje">    </p:cNvPr>
          <p:cNvPicPr>
            <a:picLocks noChangeAspect="1"/>
          </p:cNvPicPr>
          <p:nvPr/>
        </p:nvPicPr>
        <p:blipFill>
          <a:blip r:embed="rId2"/>
          <a:stretch>
            <a:fillRect/>
          </a:stretch>
        </p:blipFill>
        <p:spPr>
          <a:xfrm>
            <a:off x="4833749" y="1733550"/>
            <a:ext cx="2382620" cy="1930400"/>
          </a:xfrm>
          <a:prstGeom prst="rect">
            <a:avLst/>
          </a:prstGeom>
        </p:spPr>
      </p:pic>
      <p:sp>
        <p:nvSpPr>
          <p:cNvPr id="11" name="Text 7"/>
          <p:cNvSpPr/>
          <p:nvPr/>
        </p:nvSpPr>
        <p:spPr>
          <a:xfrm>
            <a:off x="4561384" y="3765550"/>
            <a:ext cx="316131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D9B77E"/>
                </a:solidFill>
                <a:latin typeface="Cormorant Garamond" pitchFamily="18" charset="0"/>
                <a:ea typeface="Cormorant Garamond" pitchFamily="18" charset="-122"/>
                <a:cs typeface="Cormorant Garamond" pitchFamily="18" charset="-120"/>
              </a:rPr>
              <a:t>Páginas de Confianza</a:t>
            </a:r>
            <a:endParaRPr lang="en-US" sz="2000" dirty="0"/>
          </a:p>
        </p:txBody>
      </p:sp>
      <p:sp>
        <p:nvSpPr>
          <p:cNvPr id="12" name="Text 8"/>
          <p:cNvSpPr/>
          <p:nvPr/>
        </p:nvSpPr>
        <p:spPr>
          <a:xfrm>
            <a:off x="4561384" y="4171950"/>
            <a:ext cx="316131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Tiendas auditadas con su Trust Score; las no auditadas quedan bloqueadas.</a:t>
            </a:r>
            <a:endParaRPr lang="en-US" sz="1400" dirty="0"/>
          </a:p>
        </p:txBody>
      </p:sp>
      <p:sp>
        <p:nvSpPr>
          <p:cNvPr id="13" name="Shape 9"/>
          <p:cNvSpPr/>
          <p:nvPr/>
        </p:nvSpPr>
        <p:spPr>
          <a:xfrm>
            <a:off x="7995741" y="1577975"/>
            <a:ext cx="3380284" cy="3546872"/>
          </a:xfrm>
          <a:prstGeom prst="roundRect">
            <a:avLst>
              <a:gd name="adj" fmla="val 3663"/>
            </a:avLst>
          </a:prstGeom>
          <a:solidFill>
            <a:srgbClr val="221F2B"/>
          </a:solidFill>
          <a:ln w="6350">
            <a:solidFill>
              <a:srgbClr val="3A3544"/>
            </a:solidFill>
            <a:prstDash val="solid"/>
          </a:ln>
        </p:spPr>
      </p:sp>
      <p:sp>
        <p:nvSpPr>
          <p:cNvPr id="14" name="Shape 10"/>
          <p:cNvSpPr/>
          <p:nvPr/>
        </p:nvSpPr>
        <p:spPr>
          <a:xfrm>
            <a:off x="8151316" y="1733550"/>
            <a:ext cx="2927350" cy="1930400"/>
          </a:xfrm>
          <a:prstGeom prst="roundRect">
            <a:avLst>
              <a:gd name="adj" fmla="val 3947"/>
            </a:avLst>
          </a:prstGeom>
          <a:solidFill>
            <a:srgbClr val="16141C"/>
          </a:solidFill>
          <a:ln/>
        </p:spPr>
      </p:sp>
      <p:pic>
        <p:nvPicPr>
          <p:cNvPr id="15" name="Image 2" descr="Comparador de precios de Bleu de Chanel con la mejor oferta destacada">    </p:cNvPr>
          <p:cNvPicPr>
            <a:picLocks noChangeAspect="1"/>
          </p:cNvPicPr>
          <p:nvPr/>
        </p:nvPicPr>
        <p:blipFill>
          <a:blip r:embed="rId3"/>
          <a:stretch>
            <a:fillRect/>
          </a:stretch>
        </p:blipFill>
        <p:spPr>
          <a:xfrm>
            <a:off x="8151316" y="2083391"/>
            <a:ext cx="2927350" cy="1230718"/>
          </a:xfrm>
          <a:prstGeom prst="rect">
            <a:avLst/>
          </a:prstGeom>
        </p:spPr>
      </p:pic>
      <p:sp>
        <p:nvSpPr>
          <p:cNvPr id="16" name="Text 11"/>
          <p:cNvSpPr/>
          <p:nvPr/>
        </p:nvSpPr>
        <p:spPr>
          <a:xfrm>
            <a:off x="8151316" y="3765550"/>
            <a:ext cx="31612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D9B77E"/>
                </a:solidFill>
                <a:latin typeface="Cormorant Garamond" pitchFamily="18" charset="0"/>
                <a:ea typeface="Cormorant Garamond" pitchFamily="18" charset="-122"/>
                <a:cs typeface="Cormorant Garamond" pitchFamily="18" charset="-120"/>
              </a:rPr>
              <a:t>Comparador de precios</a:t>
            </a:r>
            <a:endParaRPr lang="en-US" sz="2000" dirty="0"/>
          </a:p>
        </p:txBody>
      </p:sp>
      <p:sp>
        <p:nvSpPr>
          <p:cNvPr id="17" name="Text 12"/>
          <p:cNvSpPr/>
          <p:nvPr/>
        </p:nvSpPr>
        <p:spPr>
          <a:xfrm>
            <a:off x="8151316" y="4171950"/>
            <a:ext cx="316120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Ofertas de tiendas chilenas para un mismo perfume, con la mejor destacada.</a:t>
            </a:r>
            <a:endParaRPr lang="en-US" sz="1400" dirty="0"/>
          </a:p>
        </p:txBody>
      </p:sp>
      <p:sp>
        <p:nvSpPr>
          <p:cNvPr id="18"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9DAE"/>
                </a:solidFill>
                <a:latin typeface="DM Sans" pitchFamily="34" charset="0"/>
                <a:ea typeface="DM Sans" pitchFamily="34" charset="-122"/>
                <a:cs typeface="DM Sans" pitchFamily="34" charset="-120"/>
              </a:rPr>
              <a:t>PerfumeTrending · Proyecto APT · Fase 2</a:t>
            </a:r>
            <a:endParaRPr lang="en-US" sz="1200" dirty="0"/>
          </a:p>
        </p:txBody>
      </p:sp>
      <p:sp>
        <p:nvSpPr>
          <p:cNvPr id="19"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59DAE"/>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6141C"/>
                </a:solidFill>
                <a:latin typeface="Cormorant Garamond" pitchFamily="18" charset="0"/>
                <a:ea typeface="Cormorant Garamond" pitchFamily="18" charset="-122"/>
                <a:cs typeface="Cormorant Garamond" pitchFamily="18" charset="-120"/>
              </a:rPr>
              <a:t>Backend: datos y scrapers</a:t>
            </a:r>
            <a:endParaRPr lang="en-US" sz="4000" dirty="0"/>
          </a:p>
        </p:txBody>
      </p:sp>
      <p:sp>
        <p:nvSpPr>
          <p:cNvPr id="3" name="Shape 1"/>
          <p:cNvSpPr/>
          <p:nvPr/>
        </p:nvSpPr>
        <p:spPr>
          <a:xfrm>
            <a:off x="815975" y="1577975"/>
            <a:ext cx="4819650" cy="847030"/>
          </a:xfrm>
          <a:prstGeom prst="roundRect">
            <a:avLst>
              <a:gd name="adj" fmla="val 11620"/>
            </a:avLst>
          </a:prstGeom>
          <a:solidFill>
            <a:srgbClr val="FBF8F2"/>
          </a:solidFill>
          <a:ln w="6350">
            <a:solidFill>
              <a:srgbClr val="E2D8C8"/>
            </a:solidFill>
            <a:prstDash val="solid"/>
          </a:ln>
        </p:spPr>
      </p:sp>
      <p:sp>
        <p:nvSpPr>
          <p:cNvPr id="4" name="Text 2"/>
          <p:cNvSpPr/>
          <p:nvPr/>
        </p:nvSpPr>
        <p:spPr>
          <a:xfrm>
            <a:off x="996950" y="1733550"/>
            <a:ext cx="45914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41C"/>
                </a:solidFill>
                <a:latin typeface="DM Sans" pitchFamily="34" charset="0"/>
                <a:ea typeface="DM Sans" pitchFamily="34" charset="-122"/>
                <a:cs typeface="DM Sans" pitchFamily="34" charset="-120"/>
              </a:rPr>
              <a:t>database.py</a:t>
            </a:r>
            <a:endParaRPr lang="en-US" sz="1500" dirty="0"/>
          </a:p>
        </p:txBody>
      </p:sp>
      <p:sp>
        <p:nvSpPr>
          <p:cNvPr id="5" name="Text 3"/>
          <p:cNvSpPr/>
          <p:nvPr/>
        </p:nvSpPr>
        <p:spPr>
          <a:xfrm>
            <a:off x="996950" y="2038350"/>
            <a:ext cx="45914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650"/>
                </a:solidFill>
                <a:latin typeface="DM Sans" pitchFamily="34" charset="0"/>
                <a:ea typeface="DM Sans" pitchFamily="34" charset="-122"/>
                <a:cs typeface="DM Sans" pitchFamily="34" charset="-120"/>
              </a:rPr>
              <a:t>SQLite con modo WAL y claves foráneas.</a:t>
            </a:r>
            <a:endParaRPr lang="en-US" sz="1300" dirty="0"/>
          </a:p>
        </p:txBody>
      </p:sp>
      <p:sp>
        <p:nvSpPr>
          <p:cNvPr id="6" name="Shape 4"/>
          <p:cNvSpPr/>
          <p:nvPr/>
        </p:nvSpPr>
        <p:spPr>
          <a:xfrm>
            <a:off x="815975" y="2532955"/>
            <a:ext cx="4819650" cy="847030"/>
          </a:xfrm>
          <a:prstGeom prst="roundRect">
            <a:avLst>
              <a:gd name="adj" fmla="val 11620"/>
            </a:avLst>
          </a:prstGeom>
          <a:solidFill>
            <a:srgbClr val="FBF8F2"/>
          </a:solidFill>
          <a:ln w="6350">
            <a:solidFill>
              <a:srgbClr val="E2D8C8"/>
            </a:solidFill>
            <a:prstDash val="solid"/>
          </a:ln>
        </p:spPr>
      </p:sp>
      <p:sp>
        <p:nvSpPr>
          <p:cNvPr id="7" name="Text 5"/>
          <p:cNvSpPr/>
          <p:nvPr/>
        </p:nvSpPr>
        <p:spPr>
          <a:xfrm>
            <a:off x="996950" y="2688530"/>
            <a:ext cx="45914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41C"/>
                </a:solidFill>
                <a:latin typeface="DM Sans" pitchFamily="34" charset="0"/>
                <a:ea typeface="DM Sans" pitchFamily="34" charset="-122"/>
                <a:cs typeface="DM Sans" pitchFamily="34" charset="-120"/>
              </a:rPr>
              <a:t>normalizador.py</a:t>
            </a:r>
            <a:endParaRPr lang="en-US" sz="1500" dirty="0"/>
          </a:p>
        </p:txBody>
      </p:sp>
      <p:sp>
        <p:nvSpPr>
          <p:cNvPr id="8" name="Text 6"/>
          <p:cNvSpPr/>
          <p:nvPr/>
        </p:nvSpPr>
        <p:spPr>
          <a:xfrm>
            <a:off x="996950" y="2993330"/>
            <a:ext cx="45914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650"/>
                </a:solidFill>
                <a:latin typeface="DM Sans" pitchFamily="34" charset="0"/>
                <a:ea typeface="DM Sans" pitchFamily="34" charset="-122"/>
                <a:cs typeface="DM Sans" pitchFamily="34" charset="-120"/>
              </a:rPr>
              <a:t>Limpia nombres y descarta lo que no es perfume.</a:t>
            </a:r>
            <a:endParaRPr lang="en-US" sz="1300" dirty="0"/>
          </a:p>
        </p:txBody>
      </p:sp>
      <p:sp>
        <p:nvSpPr>
          <p:cNvPr id="9" name="Shape 7"/>
          <p:cNvSpPr/>
          <p:nvPr/>
        </p:nvSpPr>
        <p:spPr>
          <a:xfrm>
            <a:off x="815975" y="3487936"/>
            <a:ext cx="4819650" cy="847030"/>
          </a:xfrm>
          <a:prstGeom prst="roundRect">
            <a:avLst>
              <a:gd name="adj" fmla="val 11620"/>
            </a:avLst>
          </a:prstGeom>
          <a:solidFill>
            <a:srgbClr val="FBF8F2"/>
          </a:solidFill>
          <a:ln w="6350">
            <a:solidFill>
              <a:srgbClr val="E2D8C8"/>
            </a:solidFill>
            <a:prstDash val="solid"/>
          </a:ln>
        </p:spPr>
      </p:sp>
      <p:sp>
        <p:nvSpPr>
          <p:cNvPr id="10" name="Text 8"/>
          <p:cNvSpPr/>
          <p:nvPr/>
        </p:nvSpPr>
        <p:spPr>
          <a:xfrm>
            <a:off x="996950" y="3643511"/>
            <a:ext cx="45914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41C"/>
                </a:solidFill>
                <a:latin typeface="DM Sans" pitchFamily="34" charset="0"/>
                <a:ea typeface="DM Sans" pitchFamily="34" charset="-122"/>
                <a:cs typeface="DM Sans" pitchFamily="34" charset="-120"/>
              </a:rPr>
              <a:t>scraper_autonomo.py</a:t>
            </a:r>
            <a:endParaRPr lang="en-US" sz="1500" dirty="0"/>
          </a:p>
        </p:txBody>
      </p:sp>
      <p:sp>
        <p:nvSpPr>
          <p:cNvPr id="11" name="Text 9"/>
          <p:cNvSpPr/>
          <p:nvPr/>
        </p:nvSpPr>
        <p:spPr>
          <a:xfrm>
            <a:off x="996950" y="3948311"/>
            <a:ext cx="45914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650"/>
                </a:solidFill>
                <a:latin typeface="DM Sans" pitchFamily="34" charset="0"/>
                <a:ea typeface="DM Sans" pitchFamily="34" charset="-122"/>
                <a:cs typeface="DM Sans" pitchFamily="34" charset="-120"/>
              </a:rPr>
              <a:t>Busca precios en las tiendas al instante.</a:t>
            </a:r>
            <a:endParaRPr lang="en-US" sz="1300" dirty="0"/>
          </a:p>
        </p:txBody>
      </p:sp>
      <p:sp>
        <p:nvSpPr>
          <p:cNvPr id="12" name="Shape 10"/>
          <p:cNvSpPr/>
          <p:nvPr/>
        </p:nvSpPr>
        <p:spPr>
          <a:xfrm>
            <a:off x="815975" y="4442916"/>
            <a:ext cx="4819650" cy="847030"/>
          </a:xfrm>
          <a:prstGeom prst="roundRect">
            <a:avLst>
              <a:gd name="adj" fmla="val 11620"/>
            </a:avLst>
          </a:prstGeom>
          <a:solidFill>
            <a:srgbClr val="FBF8F2"/>
          </a:solidFill>
          <a:ln w="6350">
            <a:solidFill>
              <a:srgbClr val="E2D8C8"/>
            </a:solidFill>
            <a:prstDash val="solid"/>
          </a:ln>
        </p:spPr>
      </p:sp>
      <p:sp>
        <p:nvSpPr>
          <p:cNvPr id="13" name="Text 11"/>
          <p:cNvSpPr/>
          <p:nvPr/>
        </p:nvSpPr>
        <p:spPr>
          <a:xfrm>
            <a:off x="996950" y="4598491"/>
            <a:ext cx="45914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41C"/>
                </a:solidFill>
                <a:latin typeface="DM Sans" pitchFamily="34" charset="0"/>
                <a:ea typeface="DM Sans" pitchFamily="34" charset="-122"/>
                <a:cs typeface="DM Sans" pitchFamily="34" charset="-120"/>
              </a:rPr>
              <a:t>scraper_periodico.py</a:t>
            </a:r>
            <a:endParaRPr lang="en-US" sz="1500" dirty="0"/>
          </a:p>
        </p:txBody>
      </p:sp>
      <p:sp>
        <p:nvSpPr>
          <p:cNvPr id="14" name="Text 12"/>
          <p:cNvSpPr/>
          <p:nvPr/>
        </p:nvSpPr>
        <p:spPr>
          <a:xfrm>
            <a:off x="996950" y="4903291"/>
            <a:ext cx="459143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650"/>
                </a:solidFill>
                <a:latin typeface="DM Sans" pitchFamily="34" charset="0"/>
                <a:ea typeface="DM Sans" pitchFamily="34" charset="-122"/>
                <a:cs typeface="DM Sans" pitchFamily="34" charset="-120"/>
              </a:rPr>
              <a:t>Actualiza precios con reintentos periódicos.</a:t>
            </a:r>
            <a:endParaRPr lang="en-US" sz="1300" dirty="0"/>
          </a:p>
        </p:txBody>
      </p:sp>
      <p:sp>
        <p:nvSpPr>
          <p:cNvPr id="15" name="Shape 13"/>
          <p:cNvSpPr/>
          <p:nvPr/>
        </p:nvSpPr>
        <p:spPr>
          <a:xfrm>
            <a:off x="5943600" y="1574800"/>
            <a:ext cx="5435600" cy="3556000"/>
          </a:xfrm>
          <a:prstGeom prst="roundRect">
            <a:avLst>
              <a:gd name="adj" fmla="val 2857"/>
            </a:avLst>
          </a:prstGeom>
          <a:solidFill>
            <a:srgbClr val="16141C"/>
          </a:solidFill>
          <a:ln/>
        </p:spPr>
      </p:sp>
      <p:pic>
        <p:nvPicPr>
          <p:cNvPr id="16" name="Image 0" descr="Código de database.py: conexión a SQLite con modo WAL y claves foráneas">    </p:cNvPr>
          <p:cNvPicPr>
            <a:picLocks noChangeAspect="1"/>
          </p:cNvPicPr>
          <p:nvPr/>
        </p:nvPicPr>
        <p:blipFill>
          <a:blip r:embed="rId1"/>
          <a:stretch>
            <a:fillRect/>
          </a:stretch>
        </p:blipFill>
        <p:spPr>
          <a:xfrm>
            <a:off x="6632716" y="1574800"/>
            <a:ext cx="4057368" cy="3556000"/>
          </a:xfrm>
          <a:prstGeom prst="rect">
            <a:avLst/>
          </a:prstGeom>
        </p:spPr>
      </p:pic>
      <p:sp>
        <p:nvSpPr>
          <p:cNvPr id="17" name="Text 14"/>
          <p:cNvSpPr/>
          <p:nvPr/>
        </p:nvSpPr>
        <p:spPr>
          <a:xfrm>
            <a:off x="5943600" y="5219700"/>
            <a:ext cx="559866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E5866"/>
                </a:solidFill>
                <a:latin typeface="DM Sans" pitchFamily="34" charset="0"/>
                <a:ea typeface="DM Sans" pitchFamily="34" charset="-122"/>
                <a:cs typeface="DM Sans" pitchFamily="34" charset="-120"/>
              </a:rPr>
              <a:t>Evidencia: la conexión a SQLite activa WAL, un tiempo de espera y claves foráneas.</a:t>
            </a:r>
            <a:endParaRPr lang="en-US" sz="1300" dirty="0"/>
          </a:p>
        </p:txBody>
      </p:sp>
      <p:sp>
        <p:nvSpPr>
          <p:cNvPr id="18"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66"/>
                </a:solidFill>
                <a:latin typeface="DM Sans" pitchFamily="34" charset="0"/>
                <a:ea typeface="DM Sans" pitchFamily="34" charset="-122"/>
                <a:cs typeface="DM Sans" pitchFamily="34" charset="-120"/>
              </a:rPr>
              <a:t>PerfumeTrending · Proyecto APT · Fase 2</a:t>
            </a:r>
            <a:endParaRPr lang="en-US" sz="1200" dirty="0"/>
          </a:p>
        </p:txBody>
      </p:sp>
      <p:sp>
        <p:nvSpPr>
          <p:cNvPr id="19"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866"/>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4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5F0E8"/>
                </a:solidFill>
                <a:latin typeface="Cormorant Garamond" pitchFamily="18" charset="0"/>
                <a:ea typeface="Cormorant Garamond" pitchFamily="18" charset="-122"/>
                <a:cs typeface="Cormorant Garamond" pitchFamily="18" charset="-120"/>
              </a:rPr>
              <a:t>Base de datos: SQLite</a:t>
            </a:r>
            <a:endParaRPr lang="en-US" sz="4000" dirty="0"/>
          </a:p>
        </p:txBody>
      </p:sp>
      <p:sp>
        <p:nvSpPr>
          <p:cNvPr id="3" name="Text 1"/>
          <p:cNvSpPr/>
          <p:nvPr/>
        </p:nvSpPr>
        <p:spPr>
          <a:xfrm>
            <a:off x="812800" y="15240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B77E"/>
                </a:solidFill>
                <a:latin typeface="DM Sans" pitchFamily="34" charset="0"/>
                <a:ea typeface="DM Sans" pitchFamily="34" charset="-122"/>
                <a:cs typeface="DM Sans" pitchFamily="34" charset="-120"/>
              </a:rPr>
              <a:t>La app crea la base y carga el catálogo inicial sola, la primera vez que se abre.</a:t>
            </a:r>
            <a:endParaRPr lang="en-US" sz="1500" dirty="0"/>
          </a:p>
        </p:txBody>
      </p:sp>
      <p:sp>
        <p:nvSpPr>
          <p:cNvPr id="4" name="Shape 2"/>
          <p:cNvSpPr/>
          <p:nvPr/>
        </p:nvSpPr>
        <p:spPr>
          <a:xfrm>
            <a:off x="812800" y="1943100"/>
            <a:ext cx="5181600" cy="3327400"/>
          </a:xfrm>
          <a:prstGeom prst="roundRect">
            <a:avLst>
              <a:gd name="adj" fmla="val 3053"/>
            </a:avLst>
          </a:prstGeom>
          <a:solidFill>
            <a:srgbClr val="221F2B"/>
          </a:solidFill>
          <a:ln/>
        </p:spPr>
      </p:sp>
      <p:pic>
        <p:nvPicPr>
          <p:cNvPr id="5" name="Image 0" descr="Archivo schema.sql con las tablas perfumes y tiendas">    </p:cNvPr>
          <p:cNvPicPr>
            <a:picLocks noChangeAspect="1"/>
          </p:cNvPicPr>
          <p:nvPr/>
        </p:nvPicPr>
        <p:blipFill>
          <a:blip r:embed="rId1"/>
          <a:srcRect l="-137" r="-137" t="0" b="0"/>
          <a:stretch/>
        </p:blipFill>
        <p:spPr>
          <a:xfrm>
            <a:off x="819150" y="1949450"/>
            <a:ext cx="5168900" cy="3314700"/>
          </a:xfrm>
          <a:prstGeom prst="roundRect">
            <a:avLst>
              <a:gd name="adj" fmla="val 2874"/>
            </a:avLst>
          </a:prstGeom>
        </p:spPr>
      </p:pic>
      <p:sp>
        <p:nvSpPr>
          <p:cNvPr id="6" name="Shape 3"/>
          <p:cNvSpPr/>
          <p:nvPr/>
        </p:nvSpPr>
        <p:spPr>
          <a:xfrm>
            <a:off x="815975" y="1946275"/>
            <a:ext cx="5175250" cy="3321050"/>
          </a:xfrm>
          <a:prstGeom prst="roundRect">
            <a:avLst>
              <a:gd name="adj" fmla="val 2964"/>
            </a:avLst>
          </a:prstGeom>
          <a:noFill/>
          <a:ln w="6350">
            <a:solidFill>
              <a:srgbClr val="3A3544"/>
            </a:solidFill>
            <a:prstDash val="solid"/>
          </a:ln>
        </p:spPr>
      </p:sp>
      <p:sp>
        <p:nvSpPr>
          <p:cNvPr id="7" name="Text 4"/>
          <p:cNvSpPr/>
          <p:nvPr/>
        </p:nvSpPr>
        <p:spPr>
          <a:xfrm>
            <a:off x="812800" y="5346700"/>
            <a:ext cx="5337048"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CFC8D6"/>
                </a:solidFill>
                <a:latin typeface="DM Sans" pitchFamily="34" charset="0"/>
                <a:ea typeface="DM Sans" pitchFamily="34" charset="-122"/>
                <a:cs typeface="DM Sans" pitchFamily="34" charset="-120"/>
              </a:rPr>
              <a:t>schema.sql:</a:t>
            </a:r>
            <a:r>
              <a:rPr lang="en-US" sz="1300" dirty="0">
                <a:solidFill>
                  <a:srgbClr val="CFC8D6"/>
                </a:solidFill>
                <a:latin typeface="DM Sans" pitchFamily="34" charset="0"/>
                <a:ea typeface="DM Sans" pitchFamily="34" charset="-122"/>
                <a:cs typeface="DM Sans" pitchFamily="34" charset="-120"/>
              </a:rPr>
              <a:t> tablas de perfumes y tiendas, con sus claves.</a:t>
            </a:r>
            <a:endParaRPr lang="en-US" sz="1300" dirty="0"/>
          </a:p>
        </p:txBody>
      </p:sp>
      <p:sp>
        <p:nvSpPr>
          <p:cNvPr id="8" name="Shape 5"/>
          <p:cNvSpPr/>
          <p:nvPr/>
        </p:nvSpPr>
        <p:spPr>
          <a:xfrm>
            <a:off x="6197600" y="1943100"/>
            <a:ext cx="5181600" cy="3327400"/>
          </a:xfrm>
          <a:prstGeom prst="roundRect">
            <a:avLst>
              <a:gd name="adj" fmla="val 3053"/>
            </a:avLst>
          </a:prstGeom>
          <a:solidFill>
            <a:srgbClr val="221F2B"/>
          </a:solidFill>
          <a:ln/>
        </p:spPr>
      </p:sp>
      <p:pic>
        <p:nvPicPr>
          <p:cNvPr id="9" name="Image 1" descr="Archivo seed_catalogo.json con el catálogo semilla y las tiendas">    </p:cNvPr>
          <p:cNvPicPr>
            <a:picLocks noChangeAspect="1"/>
          </p:cNvPicPr>
          <p:nvPr/>
        </p:nvPicPr>
        <p:blipFill>
          <a:blip r:embed="rId2"/>
          <a:srcRect l="0" r="0" t="-193" b="-193"/>
          <a:stretch/>
        </p:blipFill>
        <p:spPr>
          <a:xfrm>
            <a:off x="6203950" y="1949450"/>
            <a:ext cx="5168900" cy="3314700"/>
          </a:xfrm>
          <a:prstGeom prst="roundRect">
            <a:avLst>
              <a:gd name="adj" fmla="val 2874"/>
            </a:avLst>
          </a:prstGeom>
        </p:spPr>
      </p:pic>
      <p:sp>
        <p:nvSpPr>
          <p:cNvPr id="10" name="Shape 6"/>
          <p:cNvSpPr/>
          <p:nvPr/>
        </p:nvSpPr>
        <p:spPr>
          <a:xfrm>
            <a:off x="6200775" y="1946275"/>
            <a:ext cx="5175250" cy="3321050"/>
          </a:xfrm>
          <a:prstGeom prst="roundRect">
            <a:avLst>
              <a:gd name="adj" fmla="val 2964"/>
            </a:avLst>
          </a:prstGeom>
          <a:noFill/>
          <a:ln w="6350">
            <a:solidFill>
              <a:srgbClr val="3A3544"/>
            </a:solidFill>
            <a:prstDash val="solid"/>
          </a:ln>
        </p:spPr>
      </p:sp>
      <p:sp>
        <p:nvSpPr>
          <p:cNvPr id="11" name="Text 7"/>
          <p:cNvSpPr/>
          <p:nvPr/>
        </p:nvSpPr>
        <p:spPr>
          <a:xfrm>
            <a:off x="6197600" y="5346700"/>
            <a:ext cx="599440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CFC8D6"/>
                </a:solidFill>
                <a:latin typeface="DM Sans" pitchFamily="34" charset="0"/>
                <a:ea typeface="DM Sans" pitchFamily="34" charset="-122"/>
                <a:cs typeface="DM Sans" pitchFamily="34" charset="-120"/>
              </a:rPr>
              <a:t>seed_catalogo.json:</a:t>
            </a:r>
            <a:r>
              <a:rPr lang="en-US" sz="1300" dirty="0">
                <a:solidFill>
                  <a:srgbClr val="CFC8D6"/>
                </a:solidFill>
                <a:latin typeface="DM Sans" pitchFamily="34" charset="0"/>
                <a:ea typeface="DM Sans" pitchFamily="34" charset="-122"/>
                <a:cs typeface="DM Sans" pitchFamily="34" charset="-120"/>
              </a:rPr>
              <a:t> catálogo semilla y tiendas con su Trust Score.</a:t>
            </a:r>
            <a:endParaRPr lang="en-US" sz="1300" dirty="0"/>
          </a:p>
        </p:txBody>
      </p:sp>
      <p:sp>
        <p:nvSpPr>
          <p:cNvPr id="12"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9DAE"/>
                </a:solidFill>
                <a:latin typeface="DM Sans" pitchFamily="34" charset="0"/>
                <a:ea typeface="DM Sans" pitchFamily="34" charset="-122"/>
                <a:cs typeface="DM Sans" pitchFamily="34" charset="-120"/>
              </a:rPr>
              <a:t>PerfumeTrending · Proyecto APT · Fase 2</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59DAE"/>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6141C"/>
                </a:solidFill>
                <a:latin typeface="Cormorant Garamond" pitchFamily="18" charset="0"/>
                <a:ea typeface="Cormorant Garamond" pitchFamily="18" charset="-122"/>
                <a:cs typeface="Cormorant Garamond" pitchFamily="18" charset="-120"/>
              </a:rPr>
              <a:t>Modelo de datos del diseño</a:t>
            </a:r>
            <a:endParaRPr lang="en-US" sz="4000" dirty="0"/>
          </a:p>
        </p:txBody>
      </p:sp>
      <p:sp>
        <p:nvSpPr>
          <p:cNvPr id="3" name="Shape 1"/>
          <p:cNvSpPr/>
          <p:nvPr/>
        </p:nvSpPr>
        <p:spPr>
          <a:xfrm>
            <a:off x="812800" y="1549400"/>
            <a:ext cx="5969000" cy="3994150"/>
          </a:xfrm>
          <a:prstGeom prst="roundRect">
            <a:avLst>
              <a:gd name="adj" fmla="val 2544"/>
            </a:avLst>
          </a:prstGeom>
          <a:solidFill>
            <a:srgbClr val="FFFFFF"/>
          </a:solidFill>
          <a:ln/>
        </p:spPr>
      </p:sp>
      <p:pic>
        <p:nvPicPr>
          <p:cNvPr id="4" name="Image 0" descr="Diagrama entidad-relación con ocho entidades: Usuario, Perfume, Tienda, Precio, Trust Score, Hype Score, Alerta y Favorito">    </p:cNvPr>
          <p:cNvPicPr>
            <a:picLocks noChangeAspect="1"/>
          </p:cNvPicPr>
          <p:nvPr/>
        </p:nvPicPr>
        <p:blipFill>
          <a:blip r:embed="rId1"/>
          <a:srcRect l="-33" r="-33" t="0" b="0"/>
          <a:stretch/>
        </p:blipFill>
        <p:spPr>
          <a:xfrm>
            <a:off x="819150" y="1555750"/>
            <a:ext cx="5956300" cy="3981450"/>
          </a:xfrm>
          <a:prstGeom prst="roundRect">
            <a:avLst>
              <a:gd name="adj" fmla="val 2392"/>
            </a:avLst>
          </a:prstGeom>
        </p:spPr>
      </p:pic>
      <p:sp>
        <p:nvSpPr>
          <p:cNvPr id="5" name="Shape 2"/>
          <p:cNvSpPr/>
          <p:nvPr/>
        </p:nvSpPr>
        <p:spPr>
          <a:xfrm>
            <a:off x="815975" y="1552575"/>
            <a:ext cx="5962650" cy="3987800"/>
          </a:xfrm>
          <a:prstGeom prst="roundRect">
            <a:avLst>
              <a:gd name="adj" fmla="val 2468"/>
            </a:avLst>
          </a:prstGeom>
          <a:noFill/>
          <a:ln w="6350">
            <a:solidFill>
              <a:srgbClr val="E2D8C8"/>
            </a:solidFill>
            <a:prstDash val="solid"/>
          </a:ln>
        </p:spPr>
      </p:sp>
      <p:sp>
        <p:nvSpPr>
          <p:cNvPr id="6" name="Text 3"/>
          <p:cNvSpPr/>
          <p:nvPr/>
        </p:nvSpPr>
        <p:spPr>
          <a:xfrm>
            <a:off x="7137400" y="2262684"/>
            <a:ext cx="4369054"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C8353B"/>
                </a:solidFill>
                <a:latin typeface="Cormorant Garamond" pitchFamily="18" charset="0"/>
                <a:ea typeface="Cormorant Garamond" pitchFamily="18" charset="-122"/>
                <a:cs typeface="Cormorant Garamond" pitchFamily="18" charset="-120"/>
              </a:rPr>
              <a:t>8</a:t>
            </a:r>
            <a:endParaRPr lang="en-US" sz="7000" dirty="0"/>
          </a:p>
        </p:txBody>
      </p:sp>
      <p:sp>
        <p:nvSpPr>
          <p:cNvPr id="7" name="Text 4"/>
          <p:cNvSpPr/>
          <p:nvPr/>
        </p:nvSpPr>
        <p:spPr>
          <a:xfrm>
            <a:off x="7137400" y="3278684"/>
            <a:ext cx="4369054"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6141C"/>
                </a:solidFill>
                <a:latin typeface="DM Sans" pitchFamily="34" charset="0"/>
                <a:ea typeface="DM Sans" pitchFamily="34" charset="-122"/>
                <a:cs typeface="DM Sans" pitchFamily="34" charset="-120"/>
              </a:rPr>
              <a:t>entidades principales</a:t>
            </a:r>
            <a:endParaRPr lang="en-US" sz="1700" dirty="0"/>
          </a:p>
        </p:txBody>
      </p:sp>
      <p:sp>
        <p:nvSpPr>
          <p:cNvPr id="8" name="Text 5"/>
          <p:cNvSpPr/>
          <p:nvPr/>
        </p:nvSpPr>
        <p:spPr>
          <a:xfrm>
            <a:off x="7137400" y="3707904"/>
            <a:ext cx="436905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50"/>
                </a:solidFill>
                <a:latin typeface="DM Sans" pitchFamily="34" charset="0"/>
                <a:ea typeface="DM Sans" pitchFamily="34" charset="-122"/>
                <a:cs typeface="DM Sans" pitchFamily="34" charset="-120"/>
              </a:rPr>
              <a:t>Usuario, Perfume, Tienda, Precio, Trust Score, Hype Score, Alerta y Favorito.</a:t>
            </a:r>
            <a:endParaRPr lang="en-US" sz="1400" dirty="0"/>
          </a:p>
        </p:txBody>
      </p:sp>
      <p:sp>
        <p:nvSpPr>
          <p:cNvPr id="9" name="Text 6"/>
          <p:cNvSpPr/>
          <p:nvPr/>
        </p:nvSpPr>
        <p:spPr>
          <a:xfrm>
            <a:off x="7137400" y="4332585"/>
            <a:ext cx="436905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50"/>
                </a:solidFill>
                <a:latin typeface="DM Sans" pitchFamily="34" charset="0"/>
                <a:ea typeface="DM Sans" pitchFamily="34" charset="-122"/>
                <a:cs typeface="DM Sans" pitchFamily="34" charset="-120"/>
              </a:rPr>
              <a:t>Precio une cada perfume con una tienda y guarda el historial de variación.</a:t>
            </a:r>
            <a:endParaRPr lang="en-US" sz="1400" dirty="0"/>
          </a:p>
        </p:txBody>
      </p:sp>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66"/>
                </a:solidFill>
                <a:latin typeface="DM Sans" pitchFamily="34" charset="0"/>
                <a:ea typeface="DM Sans" pitchFamily="34" charset="-122"/>
                <a:cs typeface="DM Sans" pitchFamily="34" charset="-120"/>
              </a:rPr>
              <a:t>PerfumeTrending · Proyecto APT · Fase 2</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866"/>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41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5F0E8"/>
                </a:solidFill>
                <a:latin typeface="Cormorant Garamond" pitchFamily="18" charset="0"/>
                <a:ea typeface="Cormorant Garamond" pitchFamily="18" charset="-122"/>
                <a:cs typeface="Cormorant Garamond" pitchFamily="18" charset="-120"/>
              </a:rPr>
              <a:t>Manual técnico</a:t>
            </a:r>
            <a:endParaRPr lang="en-US" sz="4000" dirty="0"/>
          </a:p>
        </p:txBody>
      </p:sp>
      <p:sp>
        <p:nvSpPr>
          <p:cNvPr id="3" name="Text 1"/>
          <p:cNvSpPr/>
          <p:nvPr/>
        </p:nvSpPr>
        <p:spPr>
          <a:xfrm>
            <a:off x="812800" y="15494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FC8D6"/>
                </a:solidFill>
                <a:latin typeface="DM Sans" pitchFamily="34" charset="0"/>
                <a:ea typeface="DM Sans" pitchFamily="34" charset="-122"/>
                <a:cs typeface="DM Sans" pitchFamily="34" charset="-120"/>
              </a:rPr>
              <a:t>Cómo instalar y ejecutar PerfumeTrending en cuatro pasos.</a:t>
            </a:r>
            <a:endParaRPr lang="en-US" sz="1600" dirty="0"/>
          </a:p>
        </p:txBody>
      </p:sp>
      <p:sp>
        <p:nvSpPr>
          <p:cNvPr id="4" name="Shape 2"/>
          <p:cNvSpPr/>
          <p:nvPr/>
        </p:nvSpPr>
        <p:spPr>
          <a:xfrm>
            <a:off x="815975" y="2014835"/>
            <a:ext cx="2520950" cy="2444353"/>
          </a:xfrm>
          <a:prstGeom prst="roundRect">
            <a:avLst>
              <a:gd name="adj" fmla="val 5066"/>
            </a:avLst>
          </a:prstGeom>
          <a:solidFill>
            <a:srgbClr val="221F2B"/>
          </a:solidFill>
          <a:ln w="6350">
            <a:solidFill>
              <a:srgbClr val="3A3544"/>
            </a:solidFill>
            <a:prstDash val="solid"/>
          </a:ln>
        </p:spPr>
      </p:sp>
      <p:sp>
        <p:nvSpPr>
          <p:cNvPr id="5" name="Text 3"/>
          <p:cNvSpPr/>
          <p:nvPr/>
        </p:nvSpPr>
        <p:spPr>
          <a:xfrm>
            <a:off x="1022350" y="2221210"/>
            <a:ext cx="217144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B77E"/>
                </a:solidFill>
                <a:latin typeface="Cormorant Garamond" pitchFamily="18" charset="0"/>
                <a:ea typeface="Cormorant Garamond" pitchFamily="18" charset="-122"/>
                <a:cs typeface="Cormorant Garamond" pitchFamily="18" charset="-120"/>
              </a:rPr>
              <a:t>1</a:t>
            </a:r>
            <a:endParaRPr lang="en-US" sz="4800" dirty="0"/>
          </a:p>
        </p:txBody>
      </p:sp>
      <p:sp>
        <p:nvSpPr>
          <p:cNvPr id="6" name="Text 4"/>
          <p:cNvSpPr/>
          <p:nvPr/>
        </p:nvSpPr>
        <p:spPr>
          <a:xfrm>
            <a:off x="1022350" y="2907010"/>
            <a:ext cx="217144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0E8"/>
                </a:solidFill>
                <a:latin typeface="Cormorant Garamond" pitchFamily="18" charset="0"/>
                <a:ea typeface="Cormorant Garamond" pitchFamily="18" charset="-122"/>
                <a:cs typeface="Cormorant Garamond" pitchFamily="18" charset="-120"/>
              </a:rPr>
              <a:t>Requisitos</a:t>
            </a:r>
            <a:endParaRPr lang="en-US" sz="1800" dirty="0"/>
          </a:p>
        </p:txBody>
      </p:sp>
      <p:sp>
        <p:nvSpPr>
          <p:cNvPr id="7" name="Text 5"/>
          <p:cNvSpPr/>
          <p:nvPr/>
        </p:nvSpPr>
        <p:spPr>
          <a:xfrm>
            <a:off x="1022350" y="3257451"/>
            <a:ext cx="217144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Python 3.11 o superior y Git. SQLite ya viene incluido.</a:t>
            </a:r>
            <a:endParaRPr lang="en-US" sz="1400" dirty="0"/>
          </a:p>
        </p:txBody>
      </p:sp>
      <p:sp>
        <p:nvSpPr>
          <p:cNvPr id="8" name="Shape 6"/>
          <p:cNvSpPr/>
          <p:nvPr/>
        </p:nvSpPr>
        <p:spPr>
          <a:xfrm>
            <a:off x="3495675" y="2014835"/>
            <a:ext cx="2520950" cy="2444353"/>
          </a:xfrm>
          <a:prstGeom prst="roundRect">
            <a:avLst>
              <a:gd name="adj" fmla="val 5066"/>
            </a:avLst>
          </a:prstGeom>
          <a:solidFill>
            <a:srgbClr val="221F2B"/>
          </a:solidFill>
          <a:ln w="6350">
            <a:solidFill>
              <a:srgbClr val="3A3544"/>
            </a:solidFill>
            <a:prstDash val="solid"/>
          </a:ln>
        </p:spPr>
      </p:sp>
      <p:sp>
        <p:nvSpPr>
          <p:cNvPr id="9" name="Text 7"/>
          <p:cNvSpPr/>
          <p:nvPr/>
        </p:nvSpPr>
        <p:spPr>
          <a:xfrm>
            <a:off x="3702050" y="2221210"/>
            <a:ext cx="217144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B77E"/>
                </a:solidFill>
                <a:latin typeface="Cormorant Garamond" pitchFamily="18" charset="0"/>
                <a:ea typeface="Cormorant Garamond" pitchFamily="18" charset="-122"/>
                <a:cs typeface="Cormorant Garamond" pitchFamily="18" charset="-120"/>
              </a:rPr>
              <a:t>2</a:t>
            </a:r>
            <a:endParaRPr lang="en-US" sz="4800" dirty="0"/>
          </a:p>
        </p:txBody>
      </p:sp>
      <p:sp>
        <p:nvSpPr>
          <p:cNvPr id="10" name="Text 8"/>
          <p:cNvSpPr/>
          <p:nvPr/>
        </p:nvSpPr>
        <p:spPr>
          <a:xfrm>
            <a:off x="3702050" y="2907010"/>
            <a:ext cx="217144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0E8"/>
                </a:solidFill>
                <a:latin typeface="Cormorant Garamond" pitchFamily="18" charset="0"/>
                <a:ea typeface="Cormorant Garamond" pitchFamily="18" charset="-122"/>
                <a:cs typeface="Cormorant Garamond" pitchFamily="18" charset="-120"/>
              </a:rPr>
              <a:t>Instalación</a:t>
            </a:r>
            <a:endParaRPr lang="en-US" sz="1800" dirty="0"/>
          </a:p>
        </p:txBody>
      </p:sp>
      <p:sp>
        <p:nvSpPr>
          <p:cNvPr id="11" name="Text 9"/>
          <p:cNvSpPr/>
          <p:nvPr/>
        </p:nvSpPr>
        <p:spPr>
          <a:xfrm>
            <a:off x="3702050" y="3257451"/>
            <a:ext cx="2171446"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Clonar el repositorio, crear el entorno virtual y ejecutar pip install -r requirements.txt.</a:t>
            </a:r>
            <a:endParaRPr lang="en-US" sz="1400" dirty="0"/>
          </a:p>
        </p:txBody>
      </p:sp>
      <p:sp>
        <p:nvSpPr>
          <p:cNvPr id="12" name="Shape 10"/>
          <p:cNvSpPr/>
          <p:nvPr/>
        </p:nvSpPr>
        <p:spPr>
          <a:xfrm>
            <a:off x="6175375" y="2014835"/>
            <a:ext cx="2520950" cy="2444353"/>
          </a:xfrm>
          <a:prstGeom prst="roundRect">
            <a:avLst>
              <a:gd name="adj" fmla="val 5066"/>
            </a:avLst>
          </a:prstGeom>
          <a:solidFill>
            <a:srgbClr val="221F2B"/>
          </a:solidFill>
          <a:ln w="6350">
            <a:solidFill>
              <a:srgbClr val="3A3544"/>
            </a:solidFill>
            <a:prstDash val="solid"/>
          </a:ln>
        </p:spPr>
      </p:sp>
      <p:sp>
        <p:nvSpPr>
          <p:cNvPr id="13" name="Text 11"/>
          <p:cNvSpPr/>
          <p:nvPr/>
        </p:nvSpPr>
        <p:spPr>
          <a:xfrm>
            <a:off x="6381750" y="2221210"/>
            <a:ext cx="217144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B77E"/>
                </a:solidFill>
                <a:latin typeface="Cormorant Garamond" pitchFamily="18" charset="0"/>
                <a:ea typeface="Cormorant Garamond" pitchFamily="18" charset="-122"/>
                <a:cs typeface="Cormorant Garamond" pitchFamily="18" charset="-120"/>
              </a:rPr>
              <a:t>3</a:t>
            </a:r>
            <a:endParaRPr lang="en-US" sz="4800" dirty="0"/>
          </a:p>
        </p:txBody>
      </p:sp>
      <p:sp>
        <p:nvSpPr>
          <p:cNvPr id="14" name="Text 12"/>
          <p:cNvSpPr/>
          <p:nvPr/>
        </p:nvSpPr>
        <p:spPr>
          <a:xfrm>
            <a:off x="6381750" y="2907010"/>
            <a:ext cx="217144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0E8"/>
                </a:solidFill>
                <a:latin typeface="Cormorant Garamond" pitchFamily="18" charset="0"/>
                <a:ea typeface="Cormorant Garamond" pitchFamily="18" charset="-122"/>
                <a:cs typeface="Cormorant Garamond" pitchFamily="18" charset="-120"/>
              </a:rPr>
              <a:t>Configuración</a:t>
            </a:r>
            <a:endParaRPr lang="en-US" sz="1800" dirty="0"/>
          </a:p>
        </p:txBody>
      </p:sp>
      <p:sp>
        <p:nvSpPr>
          <p:cNvPr id="15" name="Text 13"/>
          <p:cNvSpPr/>
          <p:nvPr/>
        </p:nvSpPr>
        <p:spPr>
          <a:xfrm>
            <a:off x="6381750" y="3257451"/>
            <a:ext cx="217144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Archivo .env con la clave YOUTUBE_API_KEY. No se sube a GitHub.</a:t>
            </a:r>
            <a:endParaRPr lang="en-US" sz="1400" dirty="0"/>
          </a:p>
        </p:txBody>
      </p:sp>
      <p:sp>
        <p:nvSpPr>
          <p:cNvPr id="16" name="Shape 14"/>
          <p:cNvSpPr/>
          <p:nvPr/>
        </p:nvSpPr>
        <p:spPr>
          <a:xfrm>
            <a:off x="8855075" y="2014835"/>
            <a:ext cx="2520950" cy="2444353"/>
          </a:xfrm>
          <a:prstGeom prst="roundRect">
            <a:avLst>
              <a:gd name="adj" fmla="val 5066"/>
            </a:avLst>
          </a:prstGeom>
          <a:solidFill>
            <a:srgbClr val="221F2B"/>
          </a:solidFill>
          <a:ln w="6350">
            <a:solidFill>
              <a:srgbClr val="3A3544"/>
            </a:solidFill>
            <a:prstDash val="solid"/>
          </a:ln>
        </p:spPr>
      </p:sp>
      <p:sp>
        <p:nvSpPr>
          <p:cNvPr id="17" name="Text 15"/>
          <p:cNvSpPr/>
          <p:nvPr/>
        </p:nvSpPr>
        <p:spPr>
          <a:xfrm>
            <a:off x="9061450" y="2221210"/>
            <a:ext cx="217144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9B77E"/>
                </a:solidFill>
                <a:latin typeface="Cormorant Garamond" pitchFamily="18" charset="0"/>
                <a:ea typeface="Cormorant Garamond" pitchFamily="18" charset="-122"/>
                <a:cs typeface="Cormorant Garamond" pitchFamily="18" charset="-120"/>
              </a:rPr>
              <a:t>4</a:t>
            </a:r>
            <a:endParaRPr lang="en-US" sz="4800" dirty="0"/>
          </a:p>
        </p:txBody>
      </p:sp>
      <p:sp>
        <p:nvSpPr>
          <p:cNvPr id="18" name="Text 16"/>
          <p:cNvSpPr/>
          <p:nvPr/>
        </p:nvSpPr>
        <p:spPr>
          <a:xfrm>
            <a:off x="9061450" y="2907010"/>
            <a:ext cx="217144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0E8"/>
                </a:solidFill>
                <a:latin typeface="Cormorant Garamond" pitchFamily="18" charset="0"/>
                <a:ea typeface="Cormorant Garamond" pitchFamily="18" charset="-122"/>
                <a:cs typeface="Cormorant Garamond" pitchFamily="18" charset="-120"/>
              </a:rPr>
              <a:t>Ejecución</a:t>
            </a:r>
            <a:endParaRPr lang="en-US" sz="1800" dirty="0"/>
          </a:p>
        </p:txBody>
      </p:sp>
      <p:sp>
        <p:nvSpPr>
          <p:cNvPr id="19" name="Text 17"/>
          <p:cNvSpPr/>
          <p:nvPr/>
        </p:nvSpPr>
        <p:spPr>
          <a:xfrm>
            <a:off x="9061450" y="3257451"/>
            <a:ext cx="217144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D6"/>
                </a:solidFill>
                <a:latin typeface="DM Sans" pitchFamily="34" charset="0"/>
                <a:ea typeface="DM Sans" pitchFamily="34" charset="-122"/>
                <a:cs typeface="DM Sans" pitchFamily="34" charset="-120"/>
              </a:rPr>
              <a:t>Correr streamlit run APP/app.py y abrir localhost:8501.</a:t>
            </a:r>
            <a:endParaRPr lang="en-US" sz="1400" dirty="0"/>
          </a:p>
        </p:txBody>
      </p:sp>
      <p:sp>
        <p:nvSpPr>
          <p:cNvPr id="20" name="Shape 18"/>
          <p:cNvSpPr/>
          <p:nvPr/>
        </p:nvSpPr>
        <p:spPr>
          <a:xfrm>
            <a:off x="812800" y="4640163"/>
            <a:ext cx="10566400" cy="853281"/>
          </a:xfrm>
          <a:prstGeom prst="roundRect">
            <a:avLst>
              <a:gd name="adj" fmla="val 14884"/>
            </a:avLst>
          </a:prstGeom>
          <a:solidFill>
            <a:srgbClr val="2E2A39"/>
          </a:solidFill>
          <a:ln/>
        </p:spPr>
      </p:sp>
      <p:pic>
        <p:nvPicPr>
          <p:cNvPr id="21" name="Image 0" descr="Settings">    </p:cNvPr>
          <p:cNvPicPr>
            <a:picLocks noChangeAspect="1"/>
          </p:cNvPicPr>
          <p:nvPr/>
        </p:nvPicPr>
        <p:blipFill>
          <a:blip r:embed="rId1"/>
          <a:srcRect l="0" r="0" t="-538" b="-538"/>
          <a:stretch/>
        </p:blipFill>
        <p:spPr>
          <a:xfrm>
            <a:off x="1016000" y="4914404"/>
            <a:ext cx="276423" cy="304800"/>
          </a:xfrm>
          <a:prstGeom prst="rect">
            <a:avLst/>
          </a:prstGeom>
        </p:spPr>
      </p:pic>
      <p:sp>
        <p:nvSpPr>
          <p:cNvPr id="22" name="Text 19"/>
          <p:cNvSpPr/>
          <p:nvPr/>
        </p:nvSpPr>
        <p:spPr>
          <a:xfrm>
            <a:off x="1444823" y="4817963"/>
            <a:ext cx="1002311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0E8"/>
                </a:solidFill>
                <a:latin typeface="DM Sans" pitchFamily="34" charset="0"/>
                <a:ea typeface="DM Sans" pitchFamily="34" charset="-122"/>
                <a:cs typeface="DM Sans" pitchFamily="34" charset="-120"/>
              </a:rPr>
              <a:t>Docker (opcional):</a:t>
            </a:r>
            <a:r>
              <a:rPr lang="en-US" sz="1400" dirty="0">
                <a:solidFill>
                  <a:srgbClr val="F5F0E8"/>
                </a:solidFill>
                <a:latin typeface="DM Sans" pitchFamily="34" charset="0"/>
                <a:ea typeface="DM Sans" pitchFamily="34" charset="-122"/>
                <a:cs typeface="DM Sans" pitchFamily="34" charset="-120"/>
              </a:rPr>
              <a:t> un solo contenedor con docker compose up --build. En producción se publica en Streamlit Community Cloud.</a:t>
            </a:r>
            <a:endParaRPr lang="en-US" sz="1400" dirty="0"/>
          </a:p>
        </p:txBody>
      </p:sp>
      <p:sp>
        <p:nvSpPr>
          <p:cNvPr id="23" name="Text 2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9DAE"/>
                </a:solidFill>
                <a:latin typeface="DM Sans" pitchFamily="34" charset="0"/>
                <a:ea typeface="DM Sans" pitchFamily="34" charset="-122"/>
                <a:cs typeface="DM Sans" pitchFamily="34" charset="-120"/>
              </a:rPr>
              <a:t>PerfumeTrending · Proyecto APT · Fase 2</a:t>
            </a:r>
            <a:endParaRPr lang="en-US" sz="1200" dirty="0"/>
          </a:p>
        </p:txBody>
      </p:sp>
      <p:sp>
        <p:nvSpPr>
          <p:cNvPr id="24"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59DAE"/>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8353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BF8F2"/>
                </a:solidFill>
                <a:latin typeface="Cormorant Garamond" pitchFamily="18" charset="0"/>
                <a:ea typeface="Cormorant Garamond" pitchFamily="18" charset="-122"/>
                <a:cs typeface="Cormorant Garamond" pitchFamily="18" charset="-120"/>
              </a:rPr>
              <a:t>Próximos pasos</a:t>
            </a:r>
            <a:endParaRPr lang="en-US" sz="4800" dirty="0"/>
          </a:p>
        </p:txBody>
      </p:sp>
      <p:sp>
        <p:nvSpPr>
          <p:cNvPr id="3" name="Shape 1"/>
          <p:cNvSpPr/>
          <p:nvPr/>
        </p:nvSpPr>
        <p:spPr>
          <a:xfrm>
            <a:off x="812800" y="1794470"/>
            <a:ext cx="10566400" cy="0"/>
          </a:xfrm>
          <a:prstGeom prst="line">
            <a:avLst/>
          </a:prstGeom>
          <a:noFill/>
          <a:ln w="12700">
            <a:solidFill>
              <a:srgbClr val="E8A0A4"/>
            </a:solidFill>
            <a:prstDash val="solid"/>
          </a:ln>
        </p:spPr>
        <p:txBody>
          <a:bodyPr/>
          <a:p/>
        </p:txBody>
      </p:sp>
      <p:sp>
        <p:nvSpPr>
          <p:cNvPr id="4" name="Text 2"/>
          <p:cNvSpPr/>
          <p:nvPr/>
        </p:nvSpPr>
        <p:spPr>
          <a:xfrm>
            <a:off x="812800" y="1978620"/>
            <a:ext cx="68580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BF8F2"/>
                </a:solidFill>
                <a:latin typeface="Cormorant Garamond" pitchFamily="18" charset="0"/>
                <a:ea typeface="Cormorant Garamond" pitchFamily="18" charset="-122"/>
                <a:cs typeface="Cormorant Garamond" pitchFamily="18" charset="-120"/>
              </a:rPr>
              <a:t>1</a:t>
            </a:r>
            <a:endParaRPr lang="en-US" sz="4400" dirty="0"/>
          </a:p>
        </p:txBody>
      </p:sp>
      <p:sp>
        <p:nvSpPr>
          <p:cNvPr id="5" name="Text 3"/>
          <p:cNvSpPr/>
          <p:nvPr/>
        </p:nvSpPr>
        <p:spPr>
          <a:xfrm>
            <a:off x="1651000" y="2101155"/>
            <a:ext cx="9728200" cy="33903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BF8F2"/>
                </a:solidFill>
                <a:latin typeface="DM Sans" pitchFamily="34" charset="0"/>
                <a:ea typeface="DM Sans" pitchFamily="34" charset="-122"/>
                <a:cs typeface="DM Sans" pitchFamily="34" charset="-120"/>
              </a:rPr>
              <a:t>Plan de Pruebas y Evidencias, el tercer documento de la metodología Cascada.</a:t>
            </a:r>
            <a:endParaRPr lang="en-US" sz="1900" dirty="0"/>
          </a:p>
        </p:txBody>
      </p:sp>
      <p:sp>
        <p:nvSpPr>
          <p:cNvPr id="6" name="Shape 4"/>
          <p:cNvSpPr/>
          <p:nvPr/>
        </p:nvSpPr>
        <p:spPr>
          <a:xfrm>
            <a:off x="812800" y="2696170"/>
            <a:ext cx="10566400" cy="0"/>
          </a:xfrm>
          <a:prstGeom prst="line">
            <a:avLst/>
          </a:prstGeom>
          <a:noFill/>
          <a:ln w="12700">
            <a:solidFill>
              <a:srgbClr val="E8A0A4"/>
            </a:solidFill>
            <a:prstDash val="solid"/>
          </a:ln>
        </p:spPr>
        <p:txBody>
          <a:bodyPr/>
          <a:p/>
        </p:txBody>
      </p:sp>
      <p:sp>
        <p:nvSpPr>
          <p:cNvPr id="7" name="Text 5"/>
          <p:cNvSpPr/>
          <p:nvPr/>
        </p:nvSpPr>
        <p:spPr>
          <a:xfrm>
            <a:off x="812800" y="2880320"/>
            <a:ext cx="68580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BF8F2"/>
                </a:solidFill>
                <a:latin typeface="Cormorant Garamond" pitchFamily="18" charset="0"/>
                <a:ea typeface="Cormorant Garamond" pitchFamily="18" charset="-122"/>
                <a:cs typeface="Cormorant Garamond" pitchFamily="18" charset="-120"/>
              </a:rPr>
              <a:t>2</a:t>
            </a:r>
            <a:endParaRPr lang="en-US" sz="4400" dirty="0"/>
          </a:p>
        </p:txBody>
      </p:sp>
      <p:sp>
        <p:nvSpPr>
          <p:cNvPr id="8" name="Text 6"/>
          <p:cNvSpPr/>
          <p:nvPr/>
        </p:nvSpPr>
        <p:spPr>
          <a:xfrm>
            <a:off x="1651000" y="3002855"/>
            <a:ext cx="9472732" cy="33903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BF8F2"/>
                </a:solidFill>
                <a:latin typeface="DM Sans" pitchFamily="34" charset="0"/>
                <a:ea typeface="DM Sans" pitchFamily="34" charset="-122"/>
                <a:cs typeface="DM Sans" pitchFamily="34" charset="-120"/>
              </a:rPr>
              <a:t>Corregir la vista de ofertas del comparador, que muestra código HTML.</a:t>
            </a:r>
            <a:endParaRPr lang="en-US" sz="1900" dirty="0"/>
          </a:p>
        </p:txBody>
      </p:sp>
      <p:sp>
        <p:nvSpPr>
          <p:cNvPr id="9" name="Shape 7"/>
          <p:cNvSpPr/>
          <p:nvPr/>
        </p:nvSpPr>
        <p:spPr>
          <a:xfrm>
            <a:off x="812800" y="3597870"/>
            <a:ext cx="10566400" cy="0"/>
          </a:xfrm>
          <a:prstGeom prst="line">
            <a:avLst/>
          </a:prstGeom>
          <a:noFill/>
          <a:ln w="12700">
            <a:solidFill>
              <a:srgbClr val="E8A0A4"/>
            </a:solidFill>
            <a:prstDash val="solid"/>
          </a:ln>
        </p:spPr>
        <p:txBody>
          <a:bodyPr/>
          <a:p/>
        </p:txBody>
      </p:sp>
      <p:sp>
        <p:nvSpPr>
          <p:cNvPr id="10" name="Text 8"/>
          <p:cNvSpPr/>
          <p:nvPr/>
        </p:nvSpPr>
        <p:spPr>
          <a:xfrm>
            <a:off x="812800" y="3782020"/>
            <a:ext cx="68580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BF8F2"/>
                </a:solidFill>
                <a:latin typeface="Cormorant Garamond" pitchFamily="18" charset="0"/>
                <a:ea typeface="Cormorant Garamond" pitchFamily="18" charset="-122"/>
                <a:cs typeface="Cormorant Garamond" pitchFamily="18" charset="-120"/>
              </a:rPr>
              <a:t>3</a:t>
            </a:r>
            <a:endParaRPr lang="en-US" sz="4400" dirty="0"/>
          </a:p>
        </p:txBody>
      </p:sp>
      <p:sp>
        <p:nvSpPr>
          <p:cNvPr id="11" name="Text 9"/>
          <p:cNvSpPr/>
          <p:nvPr/>
        </p:nvSpPr>
        <p:spPr>
          <a:xfrm>
            <a:off x="1651000" y="3904555"/>
            <a:ext cx="8783003" cy="339030"/>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FBF8F2"/>
                </a:solidFill>
                <a:latin typeface="DM Sans" pitchFamily="34" charset="0"/>
                <a:ea typeface="DM Sans" pitchFamily="34" charset="-122"/>
                <a:cs typeface="DM Sans" pitchFamily="34" charset="-120"/>
              </a:rPr>
              <a:t>Actualizar el Documento de Diseño para que coincida con SQLite.</a:t>
            </a:r>
            <a:endParaRPr lang="en-US" sz="19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BF8F2"/>
                </a:solidFill>
                <a:latin typeface="DM Sans" pitchFamily="34" charset="0"/>
                <a:ea typeface="DM Sans" pitchFamily="34" charset="-122"/>
                <a:cs typeface="DM Sans" pitchFamily="34" charset="-120"/>
              </a:rPr>
              <a:t>PerfumeTrending · Proyecto APT · Fase 2</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FBF8F2"/>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itle 1"/>
          <p:cNvSpPr>
            <a:spLocks noGrp="1"/>
          </p:cNvSpPr>
          <p:nvPr>
            <p:ph type="title"/>
          </p:nvPr>
        </p:nvSpPr>
        <p:spPr>
          <a:xfrm>
            <a:off x="812800" y="812800"/>
            <a:ext cx="10883900" cy="584200"/>
          </a:xfrm>
        </p:spPr>
        <p:txBody>
          <a:bodyPr wrap="square" lIns="0" rIns="0" tIns="0" bIns="0" anchor="t"/>
          <a:lstStyle/>
          <a:p>
            <a:pPr algn="l"/>
            <a:r>
              <a:rPr sz="4000" b="1">
                <a:solidFill>
                  <a:srgbClr val="16141C"/>
                </a:solidFill>
                <a:latin typeface="Cormorant Garamond"/>
              </a:rPr>
              <a:t>Carta Gantt sin cambios</a:t>
            </a:r>
          </a:p>
        </p:txBody>
      </p:sp>
      <p:sp>
        <p:nvSpPr>
          <p:cNvPr id="3" name="TextBox 2"/>
          <p:cNvSpPr txBox="1"/>
          <p:nvPr/>
        </p:nvSpPr>
        <p:spPr>
          <a:xfrm>
            <a:off x="812800" y="1549400"/>
            <a:ext cx="10566400" cy="304800"/>
          </a:xfrm>
          <a:prstGeom prst="rect">
            <a:avLst/>
          </a:prstGeom>
          <a:noFill/>
        </p:spPr>
        <p:txBody>
          <a:bodyPr wrap="square" lIns="0" rIns="0" tIns="0" bIns="0" anchor="t">
            <a:spAutoFit/>
          </a:bodyPr>
          <a:lstStyle/>
          <a:p>
            <a:pPr algn="l"/>
            <a:r>
              <a:rPr sz="1700" b="0">
                <a:solidFill>
                  <a:srgbClr val="4A4650"/>
                </a:solidFill>
                <a:latin typeface="DM Sans"/>
              </a:rPr>
              <a:t>Se mantienen los tiempos planificados para ejecutar bien el proyecto.</a:t>
            </a:r>
          </a:p>
        </p:txBody>
      </p:sp>
      <p:sp>
        <p:nvSpPr>
          <p:cNvPr id="4" name="Rounded Rectangle 3"/>
          <p:cNvSpPr/>
          <p:nvPr/>
        </p:nvSpPr>
        <p:spPr>
          <a:xfrm>
            <a:off x="81280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S1</a:t>
            </a:r>
          </a:p>
        </p:txBody>
      </p:sp>
      <p:sp>
        <p:nvSpPr>
          <p:cNvPr id="5" name="Rounded Rectangle 4"/>
          <p:cNvSpPr/>
          <p:nvPr/>
        </p:nvSpPr>
        <p:spPr>
          <a:xfrm>
            <a:off x="163195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S2</a:t>
            </a:r>
          </a:p>
        </p:txBody>
      </p:sp>
      <p:sp>
        <p:nvSpPr>
          <p:cNvPr id="6" name="Rounded Rectangle 5"/>
          <p:cNvSpPr/>
          <p:nvPr/>
        </p:nvSpPr>
        <p:spPr>
          <a:xfrm>
            <a:off x="245110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S3</a:t>
            </a:r>
          </a:p>
        </p:txBody>
      </p:sp>
      <p:sp>
        <p:nvSpPr>
          <p:cNvPr id="7" name="Rounded Rectangle 6"/>
          <p:cNvSpPr/>
          <p:nvPr/>
        </p:nvSpPr>
        <p:spPr>
          <a:xfrm>
            <a:off x="327025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S4</a:t>
            </a:r>
          </a:p>
        </p:txBody>
      </p:sp>
      <p:sp>
        <p:nvSpPr>
          <p:cNvPr id="8" name="Rounded Rectangle 7"/>
          <p:cNvSpPr/>
          <p:nvPr/>
        </p:nvSpPr>
        <p:spPr>
          <a:xfrm>
            <a:off x="408940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S5</a:t>
            </a:r>
          </a:p>
        </p:txBody>
      </p:sp>
      <p:sp>
        <p:nvSpPr>
          <p:cNvPr id="9" name="Rounded Rectangle 8"/>
          <p:cNvSpPr/>
          <p:nvPr/>
        </p:nvSpPr>
        <p:spPr>
          <a:xfrm>
            <a:off x="490855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S6</a:t>
            </a:r>
          </a:p>
        </p:txBody>
      </p:sp>
      <p:sp>
        <p:nvSpPr>
          <p:cNvPr id="10" name="Rounded Rectangle 9"/>
          <p:cNvSpPr/>
          <p:nvPr/>
        </p:nvSpPr>
        <p:spPr>
          <a:xfrm>
            <a:off x="572770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S7</a:t>
            </a:r>
          </a:p>
        </p:txBody>
      </p:sp>
      <p:sp>
        <p:nvSpPr>
          <p:cNvPr id="11" name="Rounded Rectangle 10"/>
          <p:cNvSpPr/>
          <p:nvPr/>
        </p:nvSpPr>
        <p:spPr>
          <a:xfrm>
            <a:off x="654685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S8</a:t>
            </a:r>
          </a:p>
        </p:txBody>
      </p:sp>
      <p:sp>
        <p:nvSpPr>
          <p:cNvPr id="12" name="Rounded Rectangle 11"/>
          <p:cNvSpPr/>
          <p:nvPr/>
        </p:nvSpPr>
        <p:spPr>
          <a:xfrm>
            <a:off x="7366000" y="2235200"/>
            <a:ext cx="742950" cy="406400"/>
          </a:xfrm>
          <a:prstGeom prst="roundRect">
            <a:avLst>
              <a:gd name="adj" fmla="val 8000"/>
            </a:avLst>
          </a:prstGeom>
          <a:solidFill>
            <a:srgbClr val="1614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5F0E8"/>
                </a:solidFill>
                <a:latin typeface="DM Sans"/>
              </a:rPr>
              <a:t>S9</a:t>
            </a:r>
          </a:p>
        </p:txBody>
      </p:sp>
      <p:sp>
        <p:nvSpPr>
          <p:cNvPr id="13" name="Rounded Rectangle 12"/>
          <p:cNvSpPr/>
          <p:nvPr/>
        </p:nvSpPr>
        <p:spPr>
          <a:xfrm>
            <a:off x="8185150" y="2235200"/>
            <a:ext cx="742950" cy="406400"/>
          </a:xfrm>
          <a:prstGeom prst="roundRect">
            <a:avLst>
              <a:gd name="adj" fmla="val 8000"/>
            </a:avLst>
          </a:prstGeom>
          <a:solidFill>
            <a:srgbClr val="C835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BF8F2"/>
                </a:solidFill>
                <a:latin typeface="DM Sans"/>
              </a:rPr>
              <a:t>S10</a:t>
            </a:r>
          </a:p>
        </p:txBody>
      </p:sp>
      <p:sp>
        <p:nvSpPr>
          <p:cNvPr id="14" name="Rounded Rectangle 13"/>
          <p:cNvSpPr/>
          <p:nvPr/>
        </p:nvSpPr>
        <p:spPr>
          <a:xfrm>
            <a:off x="9004300" y="2235200"/>
            <a:ext cx="742950" cy="406400"/>
          </a:xfrm>
          <a:prstGeom prst="roundRect">
            <a:avLst>
              <a:gd name="adj" fmla="val 8000"/>
            </a:avLst>
          </a:prstGeom>
          <a:noFill/>
          <a:ln w="25400">
            <a:solidFill>
              <a:srgbClr val="C9BF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4A4650"/>
                </a:solidFill>
                <a:latin typeface="DM Sans"/>
              </a:rPr>
              <a:t>S11</a:t>
            </a:r>
          </a:p>
        </p:txBody>
      </p:sp>
      <p:sp>
        <p:nvSpPr>
          <p:cNvPr id="15" name="Rounded Rectangle 14"/>
          <p:cNvSpPr/>
          <p:nvPr/>
        </p:nvSpPr>
        <p:spPr>
          <a:xfrm>
            <a:off x="9823450" y="2235200"/>
            <a:ext cx="742950" cy="406400"/>
          </a:xfrm>
          <a:prstGeom prst="roundRect">
            <a:avLst>
              <a:gd name="adj" fmla="val 8000"/>
            </a:avLst>
          </a:prstGeom>
          <a:noFill/>
          <a:ln w="25400">
            <a:solidFill>
              <a:srgbClr val="C9BF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4A4650"/>
                </a:solidFill>
                <a:latin typeface="DM Sans"/>
              </a:rPr>
              <a:t>S12</a:t>
            </a:r>
          </a:p>
        </p:txBody>
      </p:sp>
      <p:sp>
        <p:nvSpPr>
          <p:cNvPr id="16" name="Rounded Rectangle 15"/>
          <p:cNvSpPr/>
          <p:nvPr/>
        </p:nvSpPr>
        <p:spPr>
          <a:xfrm>
            <a:off x="10642600" y="2235200"/>
            <a:ext cx="742950" cy="406400"/>
          </a:xfrm>
          <a:prstGeom prst="roundRect">
            <a:avLst>
              <a:gd name="adj" fmla="val 8000"/>
            </a:avLst>
          </a:prstGeom>
          <a:noFill/>
          <a:ln w="25400">
            <a:solidFill>
              <a:srgbClr val="C9BFA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4A4650"/>
                </a:solidFill>
                <a:latin typeface="DM Sans"/>
              </a:rPr>
              <a:t>S13</a:t>
            </a:r>
          </a:p>
        </p:txBody>
      </p:sp>
      <p:sp>
        <p:nvSpPr>
          <p:cNvPr id="17" name="TextBox 16"/>
          <p:cNvSpPr txBox="1"/>
          <p:nvPr/>
        </p:nvSpPr>
        <p:spPr>
          <a:xfrm>
            <a:off x="812800" y="2743200"/>
            <a:ext cx="10566400" cy="254000"/>
          </a:xfrm>
          <a:prstGeom prst="rect">
            <a:avLst/>
          </a:prstGeom>
          <a:noFill/>
        </p:spPr>
        <p:txBody>
          <a:bodyPr wrap="square" lIns="0" rIns="0" tIns="0" bIns="0" anchor="t">
            <a:spAutoFit/>
          </a:bodyPr>
          <a:lstStyle/>
          <a:p>
            <a:pPr algn="l"/>
            <a:r>
              <a:rPr sz="1300" b="0">
                <a:solidFill>
                  <a:srgbClr val="4A4650"/>
                </a:solidFill>
                <a:latin typeface="DM Sans"/>
              </a:rPr>
              <a:t>Semanas S1 a S9 cumplidas en el plazo previsto. Estamos en la S10 (rojo). Quedan S11 a S13 (borde).</a:t>
            </a:r>
          </a:p>
        </p:txBody>
      </p:sp>
      <p:sp>
        <p:nvSpPr>
          <p:cNvPr id="18" name="Rounded Rectangle 17"/>
          <p:cNvSpPr/>
          <p:nvPr/>
        </p:nvSpPr>
        <p:spPr>
          <a:xfrm>
            <a:off x="812800" y="3327400"/>
            <a:ext cx="3386666" cy="1905000"/>
          </a:xfrm>
          <a:prstGeom prst="roundRect">
            <a:avLst>
              <a:gd name="adj" fmla="val 8000"/>
            </a:avLst>
          </a:prstGeom>
          <a:solidFill>
            <a:srgbClr val="FBF8F2"/>
          </a:solidFill>
          <a:ln w="9525">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3479800"/>
            <a:ext cx="2980266" cy="660400"/>
          </a:xfrm>
          <a:prstGeom prst="rect">
            <a:avLst/>
          </a:prstGeom>
          <a:noFill/>
        </p:spPr>
        <p:txBody>
          <a:bodyPr wrap="square" lIns="0" rIns="0" tIns="0" bIns="0" anchor="t">
            <a:spAutoFit/>
          </a:bodyPr>
          <a:lstStyle/>
          <a:p>
            <a:pPr algn="l"/>
            <a:r>
              <a:rPr sz="4800" b="1">
                <a:solidFill>
                  <a:srgbClr val="C8353B"/>
                </a:solidFill>
                <a:latin typeface="Cormorant Garamond"/>
              </a:rPr>
              <a:t>13</a:t>
            </a:r>
          </a:p>
        </p:txBody>
      </p:sp>
      <p:sp>
        <p:nvSpPr>
          <p:cNvPr id="20" name="TextBox 19"/>
          <p:cNvSpPr txBox="1"/>
          <p:nvPr/>
        </p:nvSpPr>
        <p:spPr>
          <a:xfrm>
            <a:off x="1016000" y="4216400"/>
            <a:ext cx="2980266" cy="762000"/>
          </a:xfrm>
          <a:prstGeom prst="rect">
            <a:avLst/>
          </a:prstGeom>
          <a:noFill/>
        </p:spPr>
        <p:txBody>
          <a:bodyPr wrap="square" lIns="0" rIns="0" tIns="0" bIns="0" anchor="t">
            <a:spAutoFit/>
          </a:bodyPr>
          <a:lstStyle/>
          <a:p>
            <a:pPr algn="l"/>
            <a:r>
              <a:rPr sz="1400" b="0">
                <a:solidFill>
                  <a:srgbClr val="4A4650"/>
                </a:solidFill>
                <a:latin typeface="DM Sans"/>
              </a:rPr>
              <a:t>semanas planificadas, sin ampliaciones</a:t>
            </a:r>
          </a:p>
        </p:txBody>
      </p:sp>
      <p:sp>
        <p:nvSpPr>
          <p:cNvPr id="21" name="Rounded Rectangle 20"/>
          <p:cNvSpPr/>
          <p:nvPr/>
        </p:nvSpPr>
        <p:spPr>
          <a:xfrm>
            <a:off x="4402666" y="3327400"/>
            <a:ext cx="3386666" cy="1905000"/>
          </a:xfrm>
          <a:prstGeom prst="roundRect">
            <a:avLst>
              <a:gd name="adj" fmla="val 8000"/>
            </a:avLst>
          </a:prstGeom>
          <a:solidFill>
            <a:srgbClr val="FBF8F2"/>
          </a:solidFill>
          <a:ln w="9525">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05866" y="3479800"/>
            <a:ext cx="2980266" cy="660400"/>
          </a:xfrm>
          <a:prstGeom prst="rect">
            <a:avLst/>
          </a:prstGeom>
          <a:noFill/>
        </p:spPr>
        <p:txBody>
          <a:bodyPr wrap="square" lIns="0" rIns="0" tIns="0" bIns="0" anchor="t">
            <a:spAutoFit/>
          </a:bodyPr>
          <a:lstStyle/>
          <a:p>
            <a:pPr algn="l"/>
            <a:r>
              <a:rPr sz="4800" b="1">
                <a:solidFill>
                  <a:srgbClr val="C8353B"/>
                </a:solidFill>
                <a:latin typeface="Cormorant Garamond"/>
              </a:rPr>
              <a:t>15</a:t>
            </a:r>
          </a:p>
        </p:txBody>
      </p:sp>
      <p:sp>
        <p:nvSpPr>
          <p:cNvPr id="23" name="TextBox 22"/>
          <p:cNvSpPr txBox="1"/>
          <p:nvPr/>
        </p:nvSpPr>
        <p:spPr>
          <a:xfrm>
            <a:off x="4605866" y="4216400"/>
            <a:ext cx="2980266" cy="762000"/>
          </a:xfrm>
          <a:prstGeom prst="rect">
            <a:avLst/>
          </a:prstGeom>
          <a:noFill/>
        </p:spPr>
        <p:txBody>
          <a:bodyPr wrap="square" lIns="0" rIns="0" tIns="0" bIns="0" anchor="t">
            <a:spAutoFit/>
          </a:bodyPr>
          <a:lstStyle/>
          <a:p>
            <a:pPr algn="l"/>
            <a:r>
              <a:rPr sz="1400" b="0">
                <a:solidFill>
                  <a:srgbClr val="4A4650"/>
                </a:solidFill>
                <a:latin typeface="DM Sans"/>
              </a:rPr>
              <a:t>actividades en tres fases, con los mismos plazos</a:t>
            </a:r>
          </a:p>
        </p:txBody>
      </p:sp>
      <p:sp>
        <p:nvSpPr>
          <p:cNvPr id="24" name="Rounded Rectangle 23"/>
          <p:cNvSpPr/>
          <p:nvPr/>
        </p:nvSpPr>
        <p:spPr>
          <a:xfrm>
            <a:off x="7992533" y="3327400"/>
            <a:ext cx="3386666" cy="1905000"/>
          </a:xfrm>
          <a:prstGeom prst="roundRect">
            <a:avLst>
              <a:gd name="adj" fmla="val 8000"/>
            </a:avLst>
          </a:prstGeom>
          <a:solidFill>
            <a:srgbClr val="FBF8F2"/>
          </a:solidFill>
          <a:ln w="9525">
            <a:solidFill>
              <a:srgbClr val="E2D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733" y="3479800"/>
            <a:ext cx="2980266" cy="660400"/>
          </a:xfrm>
          <a:prstGeom prst="rect">
            <a:avLst/>
          </a:prstGeom>
          <a:noFill/>
        </p:spPr>
        <p:txBody>
          <a:bodyPr wrap="square" lIns="0" rIns="0" tIns="0" bIns="0" anchor="t">
            <a:spAutoFit/>
          </a:bodyPr>
          <a:lstStyle/>
          <a:p>
            <a:pPr algn="l"/>
            <a:r>
              <a:rPr sz="4800" b="1">
                <a:solidFill>
                  <a:srgbClr val="C8353B"/>
                </a:solidFill>
                <a:latin typeface="Cormorant Garamond"/>
              </a:rPr>
              <a:t>0</a:t>
            </a:r>
          </a:p>
        </p:txBody>
      </p:sp>
      <p:sp>
        <p:nvSpPr>
          <p:cNvPr id="26" name="TextBox 25"/>
          <p:cNvSpPr txBox="1"/>
          <p:nvPr/>
        </p:nvSpPr>
        <p:spPr>
          <a:xfrm>
            <a:off x="8195733" y="4216400"/>
            <a:ext cx="2980266" cy="762000"/>
          </a:xfrm>
          <a:prstGeom prst="rect">
            <a:avLst/>
          </a:prstGeom>
          <a:noFill/>
        </p:spPr>
        <p:txBody>
          <a:bodyPr wrap="square" lIns="0" rIns="0" tIns="0" bIns="0" anchor="t">
            <a:spAutoFit/>
          </a:bodyPr>
          <a:lstStyle/>
          <a:p>
            <a:pPr algn="l"/>
            <a:r>
              <a:rPr sz="1400" b="0">
                <a:solidFill>
                  <a:srgbClr val="4A4650"/>
                </a:solidFill>
                <a:latin typeface="DM Sans"/>
              </a:rPr>
              <a:t>cambios en la Carta Gantt</a:t>
            </a:r>
          </a:p>
        </p:txBody>
      </p:sp>
      <p:sp>
        <p:nvSpPr>
          <p:cNvPr id="27" name="TextBox 26"/>
          <p:cNvSpPr txBox="1"/>
          <p:nvPr/>
        </p:nvSpPr>
        <p:spPr>
          <a:xfrm>
            <a:off x="812800" y="6235700"/>
            <a:ext cx="7188200" cy="241300"/>
          </a:xfrm>
          <a:prstGeom prst="rect">
            <a:avLst/>
          </a:prstGeom>
          <a:noFill/>
        </p:spPr>
        <p:txBody>
          <a:bodyPr wrap="square" lIns="0" rIns="0" tIns="0" bIns="0" anchor="t">
            <a:spAutoFit/>
          </a:bodyPr>
          <a:lstStyle/>
          <a:p>
            <a:pPr algn="l"/>
            <a:r>
              <a:rPr sz="1200" b="0">
                <a:solidFill>
                  <a:srgbClr val="5E5866"/>
                </a:solidFill>
                <a:latin typeface="DM Sans"/>
              </a:rPr>
              <a:t>PerfumeTrending · Proyecto APT · Fase 2</a:t>
            </a:r>
          </a:p>
        </p:txBody>
      </p:sp>
      <p:sp>
        <p:nvSpPr>
          <p:cNvPr id="28" name="TextBox 27"/>
          <p:cNvSpPr txBox="1"/>
          <p:nvPr/>
        </p:nvSpPr>
        <p:spPr>
          <a:xfrm>
            <a:off x="10058400" y="6235700"/>
            <a:ext cx="1320800" cy="241300"/>
          </a:xfrm>
          <a:prstGeom prst="rect">
            <a:avLst/>
          </a:prstGeom>
          <a:noFill/>
        </p:spPr>
        <p:txBody>
          <a:bodyPr wrap="square" lIns="0" rIns="0" tIns="0" bIns="0" anchor="t">
            <a:spAutoFit/>
          </a:bodyPr>
          <a:lstStyle/>
          <a:p>
            <a:pPr algn="r"/>
            <a:r>
              <a:rPr sz="1200" b="0">
                <a:solidFill>
                  <a:srgbClr val="5E5866"/>
                </a:solidFill>
                <a:latin typeface="DM Sans"/>
              </a:rPr>
              <a:t>10</a:t>
            </a:r>
          </a:p>
        </p:txBody>
      </p:sp>
    </p:spTree>
  </p:cSld>
  <p:clrMapOvr>
    <a:masterClrMapping/>
  </p:clrMapOvr>
</p:sld>
</file>

<file path=ppt/theme/theme1.xml><?xml version="1.0" encoding="utf-8"?>
<a:theme xmlns:a="http://schemas.openxmlformats.org/drawingml/2006/main" name="PerfumeTrending — Avance del Proyecto APT">
  <a:themeElements>
    <a:clrScheme name="PerfumeTrending — Avance del Proyecto APT">
      <a:dk1>
        <a:srgbClr val="16141C"/>
      </a:dk1>
      <a:lt1>
        <a:srgbClr val="F5F0E8"/>
      </a:lt1>
      <a:dk2>
        <a:srgbClr val="2C2A30"/>
      </a:dk2>
      <a:lt2>
        <a:srgbClr val="BDB9B5"/>
      </a:lt2>
      <a:accent1>
        <a:srgbClr val="D9B77E"/>
      </a:accent1>
      <a:accent2>
        <a:srgbClr val="C8353B"/>
      </a:accent2>
      <a:accent3>
        <a:srgbClr val="CFC8D6"/>
      </a:accent3>
      <a:accent4>
        <a:srgbClr val="4A4650"/>
      </a:accent4>
      <a:accent5>
        <a:srgbClr val="A59DAE"/>
      </a:accent5>
      <a:accent6>
        <a:srgbClr val="5E5866"/>
      </a:accent6>
      <a:hlink>
        <a:srgbClr val="0563C1"/>
      </a:hlink>
      <a:folHlink>
        <a:srgbClr val="954F72"/>
      </a:folHlink>
    </a:clrScheme>
    <a:fontScheme name="PerfumeTrending — Avance del Proyecto APT">
      <a:majorFont>
        <a:latin typeface="Cormorant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PerfumeTrending — Avance del Proyecto APT</dc:title>
  <dc:subject/>
  <dc:creator/>
  <cp:lastModifiedBy/>
  <cp:revision>1</cp:revision>
  <dcterms:created xsi:type="dcterms:W3CDTF">2026-10-09T00:54:43Z</dcterms:created>
  <dcterms:modified xsi:type="dcterms:W3CDTF">2026-10-09T00:54:43Z</dcterms:modified>
</cp:coreProperties>
</file>